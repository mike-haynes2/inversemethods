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17"/>
  </p:notesMasterIdLst>
  <p:sldIdLst>
    <p:sldId id="399" r:id="rId2"/>
    <p:sldId id="355" r:id="rId3"/>
    <p:sldId id="625" r:id="rId4"/>
    <p:sldId id="401" r:id="rId5"/>
    <p:sldId id="626" r:id="rId6"/>
    <p:sldId id="630" r:id="rId7"/>
    <p:sldId id="631" r:id="rId8"/>
    <p:sldId id="632" r:id="rId9"/>
    <p:sldId id="627" r:id="rId10"/>
    <p:sldId id="633" r:id="rId11"/>
    <p:sldId id="628" r:id="rId12"/>
    <p:sldId id="624" r:id="rId13"/>
    <p:sldId id="635" r:id="rId14"/>
    <p:sldId id="634" r:id="rId15"/>
    <p:sldId id="636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8006E"/>
    <a:srgbClr val="00FDFF"/>
    <a:srgbClr val="FF40FF"/>
    <a:srgbClr val="FF9300"/>
    <a:srgbClr val="8F9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201"/>
    <p:restoredTop sz="91214"/>
  </p:normalViewPr>
  <p:slideViewPr>
    <p:cSldViewPr snapToGrid="0">
      <p:cViewPr varScale="1">
        <p:scale>
          <a:sx n="134" d="100"/>
          <a:sy n="134" d="100"/>
        </p:scale>
        <p:origin x="184" y="6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Get atmosphere in the verbal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6954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Introduce C/E, atmospheres get partially ionized, ionospheres, </a:t>
            </a:r>
            <a:r>
              <a:rPr lang="en-US" dirty="0" err="1"/>
              <a:t>etc</a:t>
            </a: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Quick sentence on draping/pileup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Introduce figure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Alfvén wing sentence (maybe omit)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9282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Introduce C/E, atmospheres get partially ionized, ionospheres, </a:t>
            </a:r>
            <a:r>
              <a:rPr lang="en-US" dirty="0" err="1"/>
              <a:t>etc</a:t>
            </a: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Quick sentence on draping/pileup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Introduce figure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Alfvén wing sentence (maybe omit)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0454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As the energetic ions impinge towards the moon’s interaction region, they experience a probability for undergoing charge exchange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If singly charged, the ion is subsequently neutralized</a:t>
            </a:r>
          </a:p>
        </p:txBody>
      </p:sp>
    </p:spTree>
    <p:extLst>
      <p:ext uri="{BB962C8B-B14F-4D97-AF65-F5344CB8AC3E}">
        <p14:creationId xmlns:p14="http://schemas.microsoft.com/office/powerpoint/2010/main" val="3330366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As the energetic ions impinge towards the moon’s interaction region, they experience a probability for undergoing charge exchange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If singly charged, the ion is subsequently neutralized</a:t>
            </a:r>
          </a:p>
        </p:txBody>
      </p:sp>
    </p:spTree>
    <p:extLst>
      <p:ext uri="{BB962C8B-B14F-4D97-AF65-F5344CB8AC3E}">
        <p14:creationId xmlns:p14="http://schemas.microsoft.com/office/powerpoint/2010/main" val="2009135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As the energetic ions impinge towards the moon’s interaction region, they experience a probability for undergoing charge exchange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If singly charged, the ion is subsequently neutralized</a:t>
            </a:r>
          </a:p>
        </p:txBody>
      </p:sp>
    </p:spTree>
    <p:extLst>
      <p:ext uri="{BB962C8B-B14F-4D97-AF65-F5344CB8AC3E}">
        <p14:creationId xmlns:p14="http://schemas.microsoft.com/office/powerpoint/2010/main" val="3453175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As the energetic ions impinge towards the moon’s interaction region, they experience a probability for undergoing charge exchange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If singly charged, the ion is subsequently neutralized</a:t>
            </a:r>
          </a:p>
        </p:txBody>
      </p:sp>
    </p:spTree>
    <p:extLst>
      <p:ext uri="{BB962C8B-B14F-4D97-AF65-F5344CB8AC3E}">
        <p14:creationId xmlns:p14="http://schemas.microsoft.com/office/powerpoint/2010/main" val="2751553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As the energetic ions impinge towards the moon’s interaction region, they experience a probability for undergoing charge exchange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If singly charged, the ion is subsequently neutralized</a:t>
            </a:r>
          </a:p>
        </p:txBody>
      </p:sp>
    </p:spTree>
    <p:extLst>
      <p:ext uri="{BB962C8B-B14F-4D97-AF65-F5344CB8AC3E}">
        <p14:creationId xmlns:p14="http://schemas.microsoft.com/office/powerpoint/2010/main" val="1502705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As the energetic ions impinge towards the moon’s interaction region, they experience a probability for undergoing charge exchange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If singly charged, the ion is subsequently neutralized</a:t>
            </a:r>
          </a:p>
        </p:txBody>
      </p:sp>
    </p:spTree>
    <p:extLst>
      <p:ext uri="{BB962C8B-B14F-4D97-AF65-F5344CB8AC3E}">
        <p14:creationId xmlns:p14="http://schemas.microsoft.com/office/powerpoint/2010/main" val="1204707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As the energetic ions impinge towards the moon’s interaction region, they experience a probability for undergoing charge exchange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If singly charged, the ion is subsequently neutralized</a:t>
            </a:r>
          </a:p>
        </p:txBody>
      </p:sp>
    </p:spTree>
    <p:extLst>
      <p:ext uri="{BB962C8B-B14F-4D97-AF65-F5344CB8AC3E}">
        <p14:creationId xmlns:p14="http://schemas.microsoft.com/office/powerpoint/2010/main" val="2688052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As the energetic ions impinge towards the moon’s interaction region, they experience a probability for undergoing charge exchange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If singly charged, the ion is subsequently neutralized</a:t>
            </a:r>
          </a:p>
        </p:txBody>
      </p:sp>
    </p:spTree>
    <p:extLst>
      <p:ext uri="{BB962C8B-B14F-4D97-AF65-F5344CB8AC3E}">
        <p14:creationId xmlns:p14="http://schemas.microsoft.com/office/powerpoint/2010/main" val="1405830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  <a:tabLst/>
              <a:defRPr/>
            </a:pPr>
            <a:r>
              <a:rPr lang="en-US" sz="1100" b="1" u="sng" dirty="0"/>
              <a:t>Results</a:t>
            </a:r>
            <a:r>
              <a:rPr lang="en-US" sz="1100" b="1" dirty="0"/>
              <a:t>: </a:t>
            </a:r>
            <a:r>
              <a:rPr lang="en-US" sz="1100" dirty="0"/>
              <a:t>While Ganymede’s internal field controls its ENA morphology, draping creates a discernible effect at Europa, Ganymede, and Callisto</a:t>
            </a:r>
            <a:endParaRPr lang="en-US" sz="1100" b="1" u="sng" dirty="0"/>
          </a:p>
        </p:txBody>
      </p:sp>
    </p:spTree>
    <p:extLst>
      <p:ext uri="{BB962C8B-B14F-4D97-AF65-F5344CB8AC3E}">
        <p14:creationId xmlns:p14="http://schemas.microsoft.com/office/powerpoint/2010/main" val="1624459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  <a:tabLst/>
              <a:defRPr/>
            </a:pPr>
            <a:r>
              <a:rPr lang="en-US" sz="1100" b="1" u="sng" dirty="0"/>
              <a:t>Results</a:t>
            </a:r>
            <a:r>
              <a:rPr lang="en-US" sz="1100" b="1" dirty="0"/>
              <a:t>: </a:t>
            </a:r>
            <a:r>
              <a:rPr lang="en-US" sz="1100" dirty="0"/>
              <a:t>While Ganymede’s internal field controls its ENA morphology, draping creates a discernible effect at Europa, Ganymede, and Callisto</a:t>
            </a:r>
            <a:endParaRPr lang="en-US" sz="1100" b="1" u="sng" dirty="0"/>
          </a:p>
        </p:txBody>
      </p:sp>
    </p:spTree>
    <p:extLst>
      <p:ext uri="{BB962C8B-B14F-4D97-AF65-F5344CB8AC3E}">
        <p14:creationId xmlns:p14="http://schemas.microsoft.com/office/powerpoint/2010/main" val="3109444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  <a:tabLst/>
              <a:defRPr/>
            </a:pPr>
            <a:r>
              <a:rPr lang="en-US" sz="1100" b="1" u="sng" dirty="0"/>
              <a:t>Results</a:t>
            </a:r>
            <a:r>
              <a:rPr lang="en-US" sz="1100" b="1" dirty="0"/>
              <a:t>: </a:t>
            </a:r>
            <a:r>
              <a:rPr lang="en-US" sz="1100" dirty="0"/>
              <a:t>While Ganymede’s internal field controls its ENA morphology, draping creates a discernible effect at Europa, Ganymede, and Callisto</a:t>
            </a:r>
            <a:endParaRPr lang="en-US" sz="1100" b="1" u="sng" dirty="0"/>
          </a:p>
        </p:txBody>
      </p:sp>
    </p:spTree>
    <p:extLst>
      <p:ext uri="{BB962C8B-B14F-4D97-AF65-F5344CB8AC3E}">
        <p14:creationId xmlns:p14="http://schemas.microsoft.com/office/powerpoint/2010/main" val="617628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lt1"/>
            </a:gs>
            <a:gs pos="90000">
              <a:schemeClr val="lt1"/>
            </a:gs>
            <a:gs pos="100000">
              <a:srgbClr val="FFFFFF">
                <a:alpha val="58823"/>
              </a:srgbClr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83520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EDB203">
                  <a:alpha val="56862"/>
                </a:srgbClr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0" y="4393181"/>
            <a:ext cx="9144000" cy="75030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9EB9CD">
                  <a:alpha val="56862"/>
                </a:srgbClr>
              </a:gs>
              <a:gs pos="100000">
                <a:schemeClr val="l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57200" y="171452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None/>
              <a:defRPr sz="8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57200" y="360045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90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0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90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90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90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90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57200" y="1085853"/>
            <a:ext cx="7772400" cy="3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None/>
              <a:defRPr sz="8800" b="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57200" y="171451"/>
            <a:ext cx="77724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9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9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9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9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9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9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9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90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199" y="114541"/>
            <a:ext cx="82455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1630680" y="1181101"/>
            <a:ext cx="32919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5090160" y="1181101"/>
            <a:ext cx="32919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199" y="114541"/>
            <a:ext cx="82455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1627632" y="1179576"/>
            <a:ext cx="329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1627632" y="1694525"/>
            <a:ext cx="3291900" cy="28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5093208" y="1179576"/>
            <a:ext cx="329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5093208" y="1694525"/>
            <a:ext cx="3291900" cy="28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3575050" y="1200150"/>
            <a:ext cx="5111700" cy="3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spcBef>
                <a:spcPts val="60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2"/>
          </p:nvPr>
        </p:nvSpPr>
        <p:spPr>
          <a:xfrm>
            <a:off x="457205" y="1200150"/>
            <a:ext cx="3008400" cy="3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457199" y="114541"/>
            <a:ext cx="82455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>
            <a:off x="9001124" y="3634740"/>
            <a:ext cx="142800" cy="150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-1" y="0"/>
            <a:ext cx="9000900" cy="36348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457200" y="4286250"/>
            <a:ext cx="8153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457200" y="37147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9" name="Google Shape;69;p10"/>
          <p:cNvSpPr/>
          <p:nvPr/>
        </p:nvSpPr>
        <p:spPr>
          <a:xfrm>
            <a:off x="9001124" y="0"/>
            <a:ext cx="142800" cy="363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457199" y="114541"/>
            <a:ext cx="82455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 rot="5400000">
            <a:off x="2605050" y="-1119150"/>
            <a:ext cx="3324300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 rot="5400000">
            <a:off x="5463750" y="1371630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70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Google Shape;79;p12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1pPr>
            <a:lvl2pPr marL="914400" lvl="1" indent="-355600" rtl="0"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2pPr>
            <a:lvl3pPr marL="1371600" lvl="2" indent="-342900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30200" rtl="0"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90000">
              <a:schemeClr val="lt1"/>
            </a:gs>
            <a:gs pos="100000">
              <a:srgbClr val="EDB203">
                <a:alpha val="58823"/>
              </a:srgbClr>
            </a:gs>
          </a:gsLst>
          <a:lin ang="54000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199" y="114541"/>
            <a:ext cx="82455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028700"/>
            <a:ext cx="7620000" cy="3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10" Type="http://schemas.openxmlformats.org/officeDocument/2006/relationships/image" Target="../media/image7.jpe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gif"/><Relationship Id="rId5" Type="http://schemas.openxmlformats.org/officeDocument/2006/relationships/image" Target="../media/image6.png"/><Relationship Id="rId10" Type="http://schemas.openxmlformats.org/officeDocument/2006/relationships/image" Target="../media/image13.jpeg"/><Relationship Id="rId4" Type="http://schemas.openxmlformats.org/officeDocument/2006/relationships/image" Target="../media/image5.png"/><Relationship Id="rId9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png"/><Relationship Id="rId5" Type="http://schemas.openxmlformats.org/officeDocument/2006/relationships/image" Target="../media/image29.jpg"/><Relationship Id="rId4" Type="http://schemas.openxmlformats.org/officeDocument/2006/relationships/image" Target="../media/image6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7.jpeg"/><Relationship Id="rId4" Type="http://schemas.openxmlformats.org/officeDocument/2006/relationships/image" Target="../media/image6.png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subTitle" idx="1"/>
          </p:nvPr>
        </p:nvSpPr>
        <p:spPr>
          <a:xfrm>
            <a:off x="1143000" y="2728209"/>
            <a:ext cx="6858000" cy="68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400"/>
              </a:spcBef>
              <a:spcAft>
                <a:spcPts val="600"/>
              </a:spcAft>
              <a:buNone/>
            </a:pPr>
            <a:r>
              <a:rPr lang="en" sz="3900" u="sng" dirty="0"/>
              <a:t>C. Michael Haynes</a:t>
            </a:r>
          </a:p>
          <a:p>
            <a:pPr marL="0" lvl="0" indent="0" algn="ctr" rtl="0">
              <a:spcBef>
                <a:spcPts val="400"/>
              </a:spcBef>
              <a:spcAft>
                <a:spcPts val="600"/>
              </a:spcAft>
              <a:buNone/>
            </a:pPr>
            <a:endParaRPr sz="1600" dirty="0"/>
          </a:p>
        </p:txBody>
      </p:sp>
      <p:pic>
        <p:nvPicPr>
          <p:cNvPr id="92" name="Google Shape;92;p14" descr="MOSSLog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" y="3519875"/>
            <a:ext cx="1987500" cy="1507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8719" y="4114374"/>
            <a:ext cx="3966561" cy="913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NASA_logo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55872" y="3556401"/>
            <a:ext cx="1777905" cy="147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8;p7">
            <a:extLst>
              <a:ext uri="{FF2B5EF4-FFF2-40B4-BE49-F238E27FC236}">
                <a16:creationId xmlns:a16="http://schemas.microsoft.com/office/drawing/2014/main" id="{E4E63909-1EB5-3982-E7C2-BC22CA0E7C15}"/>
              </a:ext>
            </a:extLst>
          </p:cNvPr>
          <p:cNvSpPr/>
          <p:nvPr/>
        </p:nvSpPr>
        <p:spPr>
          <a:xfrm>
            <a:off x="3393715" y="62755"/>
            <a:ext cx="2758241" cy="30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5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7ED8D-617B-B0D1-C6A7-DFFE5F94E711}"/>
              </a:ext>
            </a:extLst>
          </p:cNvPr>
          <p:cNvSpPr txBox="1"/>
          <p:nvPr/>
        </p:nvSpPr>
        <p:spPr>
          <a:xfrm>
            <a:off x="4018803" y="3350598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</a:rPr>
              <a:t>EAS 6134</a:t>
            </a:r>
          </a:p>
        </p:txBody>
      </p:sp>
      <p:sp>
        <p:nvSpPr>
          <p:cNvPr id="6" name="Google Shape;90;p14">
            <a:extLst>
              <a:ext uri="{FF2B5EF4-FFF2-40B4-BE49-F238E27FC236}">
                <a16:creationId xmlns:a16="http://schemas.microsoft.com/office/drawing/2014/main" id="{B06CC8EE-B03C-8842-6DF4-CBA6C417B1C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152" y="-113907"/>
            <a:ext cx="8529696" cy="342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0000"/>
                </a:solidFill>
                <a:effectLst/>
                <a:latin typeface="Helvetica" pitchFamily="2" charset="0"/>
              </a:rPr>
              <a:t>Towards a Constrained Understanding of </a:t>
            </a:r>
            <a:r>
              <a:rPr lang="en-US" sz="3200" b="1" dirty="0">
                <a:solidFill>
                  <a:srgbClr val="00B0F0"/>
                </a:solidFill>
                <a:effectLst/>
                <a:latin typeface="Helvetica" pitchFamily="2" charset="0"/>
              </a:rPr>
              <a:t>Europa’s Subsurface</a:t>
            </a:r>
            <a:r>
              <a:rPr lang="en-US" sz="3200" b="1" dirty="0">
                <a:solidFill>
                  <a:srgbClr val="000000"/>
                </a:solidFill>
                <a:effectLst/>
                <a:latin typeface="Helvetica" pitchFamily="2" charset="0"/>
              </a:rPr>
              <a:t> Driven by </a:t>
            </a:r>
            <a:r>
              <a:rPr lang="en-US" sz="3200" b="1" dirty="0">
                <a:solidFill>
                  <a:srgbClr val="00B0F0"/>
                </a:solidFill>
                <a:effectLst/>
                <a:latin typeface="Helvetica" pitchFamily="2" charset="0"/>
              </a:rPr>
              <a:t>Magnetic Induction Sounding</a:t>
            </a:r>
            <a:endParaRPr sz="32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817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50817"/>
            <a:ext cx="548700" cy="39360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A143E01-C442-4A81-DD59-580B6C15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8007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Europa: Background</a:t>
            </a:r>
          </a:p>
        </p:txBody>
      </p:sp>
      <p:pic>
        <p:nvPicPr>
          <p:cNvPr id="13" name="Picture 12" descr="A white round object with brown veins&#10;&#10;Description automatically generated">
            <a:extLst>
              <a:ext uri="{FF2B5EF4-FFF2-40B4-BE49-F238E27FC236}">
                <a16:creationId xmlns:a16="http://schemas.microsoft.com/office/drawing/2014/main" id="{279FFDC8-C8A8-AFBA-8A73-32FDB63098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69036" y="1023979"/>
            <a:ext cx="1983491" cy="19923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00F4B1-CEC7-8ADA-99AA-79798DF2947C}"/>
              </a:ext>
            </a:extLst>
          </p:cNvPr>
          <p:cNvSpPr txBox="1"/>
          <p:nvPr/>
        </p:nvSpPr>
        <p:spPr>
          <a:xfrm>
            <a:off x="122842" y="3047850"/>
            <a:ext cx="7726807" cy="1702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Possesses tenuous, O</a:t>
            </a:r>
            <a:r>
              <a:rPr lang="en-US" sz="1800" baseline="-250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2</a:t>
            </a: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 rich </a:t>
            </a:r>
            <a:r>
              <a:rPr lang="en-US" sz="1800" u="sng" dirty="0">
                <a:solidFill>
                  <a:schemeClr val="tx1"/>
                </a:solidFill>
                <a:latin typeface="+mn-lt"/>
                <a:sym typeface="Wingdings" pitchFamily="2" charset="2"/>
              </a:rPr>
              <a:t>atmosphere</a:t>
            </a: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Embedded within Jupiter’s magnetospheric / plasma environment</a:t>
            </a:r>
            <a:endParaRPr lang="en-US" sz="1800" u="sng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Target of the upcoming </a:t>
            </a:r>
            <a:r>
              <a:rPr lang="en-US" sz="1800" u="sng" dirty="0">
                <a:solidFill>
                  <a:schemeClr val="tx1"/>
                </a:solidFill>
                <a:latin typeface="+mn-lt"/>
                <a:sym typeface="Wingdings" pitchFamily="2" charset="2"/>
              </a:rPr>
              <a:t>JUICE</a:t>
            </a: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 and Europa Clipper missions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Favorable candidate for habitable qualities (tremendous water content)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75EB50-361B-BF25-7C30-3430FB803984}"/>
                  </a:ext>
                </a:extLst>
              </p:cNvPr>
              <p:cNvSpPr txBox="1"/>
              <p:nvPr/>
            </p:nvSpPr>
            <p:spPr>
              <a:xfrm>
                <a:off x="421902" y="727625"/>
                <a:ext cx="19834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F0"/>
                    </a:solidFill>
                  </a:rPr>
                  <a:t>Europa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=1561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km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75EB50-361B-BF25-7C30-3430FB803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02" y="727625"/>
                <a:ext cx="1983492" cy="307777"/>
              </a:xfrm>
              <a:prstGeom prst="rect">
                <a:avLst/>
              </a:prstGeom>
              <a:blipFill>
                <a:blip r:embed="rId7"/>
                <a:stretch>
                  <a:fillRect l="-1274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Google Shape;102;p15">
            <a:extLst>
              <a:ext uri="{FF2B5EF4-FFF2-40B4-BE49-F238E27FC236}">
                <a16:creationId xmlns:a16="http://schemas.microsoft.com/office/drawing/2014/main" id="{1CF4EF9B-7698-E9A0-152F-963DE3FF9035}"/>
              </a:ext>
            </a:extLst>
          </p:cNvPr>
          <p:cNvSpPr txBox="1"/>
          <p:nvPr/>
        </p:nvSpPr>
        <p:spPr>
          <a:xfrm>
            <a:off x="8102096" y="3161620"/>
            <a:ext cx="234088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NASA/JPL</a:t>
            </a:r>
          </a:p>
        </p:txBody>
      </p:sp>
      <p:pic>
        <p:nvPicPr>
          <p:cNvPr id="22" name="Google Shape;192;p7">
            <a:extLst>
              <a:ext uri="{FF2B5EF4-FFF2-40B4-BE49-F238E27FC236}">
                <a16:creationId xmlns:a16="http://schemas.microsoft.com/office/drawing/2014/main" id="{726E6087-E10D-B98A-A506-C05BB9F34C7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94;p7">
            <a:extLst>
              <a:ext uri="{FF2B5EF4-FFF2-40B4-BE49-F238E27FC236}">
                <a16:creationId xmlns:a16="http://schemas.microsoft.com/office/drawing/2014/main" id="{B2C5F1B4-D5E9-54A3-5ED3-BB633EEFDE0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88;p7">
            <a:extLst>
              <a:ext uri="{FF2B5EF4-FFF2-40B4-BE49-F238E27FC236}">
                <a16:creationId xmlns:a16="http://schemas.microsoft.com/office/drawing/2014/main" id="{E8C313AA-30EA-C225-3AEE-D4E696F6C047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6" name="Picture 2" descr="Model of Europa's Subsurface Structure | NASA Jet Propulsion Laboratory  (JPL)">
            <a:extLst>
              <a:ext uri="{FF2B5EF4-FFF2-40B4-BE49-F238E27FC236}">
                <a16:creationId xmlns:a16="http://schemas.microsoft.com/office/drawing/2014/main" id="{0069F369-6483-D2FB-E31C-6BBEA4F600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998721" y="740305"/>
            <a:ext cx="3748087" cy="2421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100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50817"/>
            <a:ext cx="548700" cy="39360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A143E01-C442-4A81-DD59-580B6C15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8007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Europa: Background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00F4B1-CEC7-8ADA-99AA-79798DF2947C}"/>
                  </a:ext>
                </a:extLst>
              </p:cNvPr>
              <p:cNvSpPr txBox="1"/>
              <p:nvPr/>
            </p:nvSpPr>
            <p:spPr>
              <a:xfrm>
                <a:off x="122843" y="3047850"/>
                <a:ext cx="7135208" cy="1702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Offset between Jupiter’s spin and rotation axes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 time-varying magnetospheric field 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𝐁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 at Europa’s orbit</a:t>
                </a:r>
                <a:endParaRPr lang="en-US" sz="1800" b="1" u="sng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Drives induction in conducting layers of the moon (salty water)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Led to the discovery of Europa’s ocean! (</a:t>
                </a:r>
                <a:r>
                  <a:rPr lang="en-US" sz="1800" dirty="0" err="1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Kivelson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 et al., 2000)</a:t>
                </a:r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00F4B1-CEC7-8ADA-99AA-79798DF29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43" y="3047850"/>
                <a:ext cx="7135208" cy="1702967"/>
              </a:xfrm>
              <a:prstGeom prst="rect">
                <a:avLst/>
              </a:prstGeom>
              <a:blipFill>
                <a:blip r:embed="rId3"/>
                <a:stretch>
                  <a:fillRect l="-533" b="-5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oogle Shape;192;p7">
            <a:extLst>
              <a:ext uri="{FF2B5EF4-FFF2-40B4-BE49-F238E27FC236}">
                <a16:creationId xmlns:a16="http://schemas.microsoft.com/office/drawing/2014/main" id="{726E6087-E10D-B98A-A506-C05BB9F34C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94;p7">
            <a:extLst>
              <a:ext uri="{FF2B5EF4-FFF2-40B4-BE49-F238E27FC236}">
                <a16:creationId xmlns:a16="http://schemas.microsoft.com/office/drawing/2014/main" id="{B2C5F1B4-D5E9-54A3-5ED3-BB633EEFDE0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88;p7">
            <a:extLst>
              <a:ext uri="{FF2B5EF4-FFF2-40B4-BE49-F238E27FC236}">
                <a16:creationId xmlns:a16="http://schemas.microsoft.com/office/drawing/2014/main" id="{E8C313AA-30EA-C225-3AEE-D4E696F6C047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CD57E9-A3AE-6AED-3BCC-3548AAA278B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087" t="23497" b="13827"/>
          <a:stretch/>
        </p:blipFill>
        <p:spPr>
          <a:xfrm>
            <a:off x="1805319" y="943826"/>
            <a:ext cx="5238439" cy="21040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8D96AF-F075-FA08-0631-9C4655AB0F67}"/>
              </a:ext>
            </a:extLst>
          </p:cNvPr>
          <p:cNvSpPr txBox="1"/>
          <p:nvPr/>
        </p:nvSpPr>
        <p:spPr>
          <a:xfrm>
            <a:off x="-2727" y="746172"/>
            <a:ext cx="2029651" cy="923330"/>
          </a:xfrm>
          <a:prstGeom prst="rect">
            <a:avLst/>
          </a:prstGeom>
          <a:solidFill>
            <a:schemeClr val="bg1"/>
          </a:solidFill>
          <a:ln w="19050">
            <a:noFill/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7030A0"/>
                </a:solidFill>
                <a:latin typeface="Gill Sans MT" panose="020B0502020104020203" pitchFamily="34" charset="77"/>
                <a:cs typeface="Times New Roman" panose="02020603050405020304" pitchFamily="18" charset="0"/>
              </a:rPr>
              <a:t>M: Magnetic Axis</a:t>
            </a:r>
          </a:p>
          <a:p>
            <a:r>
              <a:rPr lang="en-US" sz="1800" b="1" dirty="0">
                <a:solidFill>
                  <a:schemeClr val="accent2"/>
                </a:solidFill>
                <a:latin typeface="Gill Sans MT" panose="020B0502020104020203" pitchFamily="34" charset="77"/>
                <a:cs typeface="Times New Roman" panose="02020603050405020304" pitchFamily="18" charset="0"/>
              </a:rPr>
              <a:t>Ω: Rotation Axis</a:t>
            </a:r>
          </a:p>
          <a:p>
            <a:r>
              <a:rPr lang="en-US" sz="1800" b="1" dirty="0">
                <a:solidFill>
                  <a:srgbClr val="00B050"/>
                </a:solidFill>
                <a:latin typeface="Gill Sans MT" panose="020B0502020104020203" pitchFamily="34" charset="77"/>
                <a:cs typeface="Times New Roman" panose="02020603050405020304" pitchFamily="18" charset="0"/>
              </a:rPr>
              <a:t>    Plasma Sheet </a:t>
            </a:r>
          </a:p>
        </p:txBody>
      </p:sp>
      <p:pic>
        <p:nvPicPr>
          <p:cNvPr id="13" name="Picture 12" descr="A white round object with brown veins&#10;&#10;Description automatically generated">
            <a:extLst>
              <a:ext uri="{FF2B5EF4-FFF2-40B4-BE49-F238E27FC236}">
                <a16:creationId xmlns:a16="http://schemas.microsoft.com/office/drawing/2014/main" id="{279FFDC8-C8A8-AFBA-8A73-32FDB630988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5050" y="1730443"/>
            <a:ext cx="328591" cy="330059"/>
          </a:xfrm>
          <a:prstGeom prst="rect">
            <a:avLst/>
          </a:prstGeom>
        </p:spPr>
      </p:pic>
      <p:pic>
        <p:nvPicPr>
          <p:cNvPr id="2050" name="Picture 2" descr="Garrett PD6500i Walk Through Metal Detector">
            <a:extLst>
              <a:ext uri="{FF2B5EF4-FFF2-40B4-BE49-F238E27FC236}">
                <a16:creationId xmlns:a16="http://schemas.microsoft.com/office/drawing/2014/main" id="{366C89BC-8DE2-EFDD-E4F4-11C6D80CA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211" y="1066203"/>
            <a:ext cx="139065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DBDEAB-91CF-C8D4-4B7B-FAE718F304C8}"/>
              </a:ext>
            </a:extLst>
          </p:cNvPr>
          <p:cNvSpPr txBox="1"/>
          <p:nvPr/>
        </p:nvSpPr>
        <p:spPr>
          <a:xfrm>
            <a:off x="7600926" y="695146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Analogs:</a:t>
            </a:r>
          </a:p>
        </p:txBody>
      </p:sp>
      <p:pic>
        <p:nvPicPr>
          <p:cNvPr id="2052" name="Picture 4" descr="Wireless Phone Charger – Phone Loops">
            <a:extLst>
              <a:ext uri="{FF2B5EF4-FFF2-40B4-BE49-F238E27FC236}">
                <a16:creationId xmlns:a16="http://schemas.microsoft.com/office/drawing/2014/main" id="{40528BD6-7F23-45DD-4B97-C2AEB20A7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946" y="2398567"/>
            <a:ext cx="1077098" cy="73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low microphone – Spring Sale – Soundbrenner">
            <a:extLst>
              <a:ext uri="{FF2B5EF4-FFF2-40B4-BE49-F238E27FC236}">
                <a16:creationId xmlns:a16="http://schemas.microsoft.com/office/drawing/2014/main" id="{282D4BE9-6AE2-5B17-39E7-2C61A2488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632" y="3213918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907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9145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Science Question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" name="Picture 18" descr="A graph of a number of data&#10;&#10;Description automatically generated with medium confidence">
            <a:extLst>
              <a:ext uri="{FF2B5EF4-FFF2-40B4-BE49-F238E27FC236}">
                <a16:creationId xmlns:a16="http://schemas.microsoft.com/office/drawing/2014/main" id="{6B4B2345-5145-A035-E37B-448639A53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417" y="2321584"/>
            <a:ext cx="3101975" cy="2440315"/>
          </a:xfrm>
          <a:prstGeom prst="rect">
            <a:avLst/>
          </a:prstGeom>
        </p:spPr>
      </p:pic>
      <p:pic>
        <p:nvPicPr>
          <p:cNvPr id="21" name="Picture 2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8BEB5907-5A36-1A4F-2441-F62E985A89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432" y="2305937"/>
            <a:ext cx="3101975" cy="2469386"/>
          </a:xfrm>
          <a:prstGeom prst="rect">
            <a:avLst/>
          </a:prstGeom>
        </p:spPr>
      </p:pic>
      <p:sp>
        <p:nvSpPr>
          <p:cNvPr id="22" name="Google Shape;102;p15">
            <a:extLst>
              <a:ext uri="{FF2B5EF4-FFF2-40B4-BE49-F238E27FC236}">
                <a16:creationId xmlns:a16="http://schemas.microsoft.com/office/drawing/2014/main" id="{79DD86C4-8B22-7AFC-BA5E-031246C6BB90}"/>
              </a:ext>
            </a:extLst>
          </p:cNvPr>
          <p:cNvSpPr txBox="1"/>
          <p:nvPr/>
        </p:nvSpPr>
        <p:spPr>
          <a:xfrm>
            <a:off x="3452807" y="4860017"/>
            <a:ext cx="234088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Zimmer et al. (2000)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56DFBB-8DC2-76B6-8E61-200B658983E2}"/>
              </a:ext>
            </a:extLst>
          </p:cNvPr>
          <p:cNvSpPr txBox="1"/>
          <p:nvPr/>
        </p:nvSpPr>
        <p:spPr>
          <a:xfrm>
            <a:off x="48788" y="745845"/>
            <a:ext cx="8972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However, even today Europa’s subsurface stratification remains poorly constrained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Studies have applied various methods to obtain the depth/conductivity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Often the nature of Europa’s local environment is not considered, and the choice of inversion strategy is inspection or L-S  (e.g., Weber et al., 2022)</a:t>
            </a:r>
          </a:p>
        </p:txBody>
      </p:sp>
    </p:spTree>
    <p:extLst>
      <p:ext uri="{BB962C8B-B14F-4D97-AF65-F5344CB8AC3E}">
        <p14:creationId xmlns:p14="http://schemas.microsoft.com/office/powerpoint/2010/main" val="414194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9145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Science Question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72FBF-5181-21E9-8BA0-55C1921F957B}"/>
              </a:ext>
            </a:extLst>
          </p:cNvPr>
          <p:cNvSpPr txBox="1"/>
          <p:nvPr/>
        </p:nvSpPr>
        <p:spPr>
          <a:xfrm>
            <a:off x="48788" y="745845"/>
            <a:ext cx="8972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However, even today Europa’s subsurface stratification remains poorly constrained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Studies have applied various methods to obtain the depth/conductivity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Often the nature of Europa’s local environment is not considered, and the choice of inversion strategy is inspection or L-S  (e.g., Weber et al., 2022)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B3B0E6-40C9-278D-B557-17AA231AFF08}"/>
              </a:ext>
            </a:extLst>
          </p:cNvPr>
          <p:cNvSpPr txBox="1"/>
          <p:nvPr/>
        </p:nvSpPr>
        <p:spPr>
          <a:xfrm>
            <a:off x="571501" y="2585794"/>
            <a:ext cx="7900957" cy="206210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F0"/>
                </a:solidFill>
              </a:rPr>
              <a:t>Our goal: tighter constraints on Europa’s subsurface conductivity profile</a:t>
            </a:r>
          </a:p>
          <a:p>
            <a:pPr algn="ctr"/>
            <a:endParaRPr lang="en-US" sz="800" b="1" dirty="0">
              <a:solidFill>
                <a:srgbClr val="00B0F0"/>
              </a:solidFill>
            </a:endParaRPr>
          </a:p>
          <a:p>
            <a:r>
              <a:rPr lang="en-US" sz="1800" dirty="0"/>
              <a:t>To do so, we use magnetometer data from Europa’s environment, and:</a:t>
            </a:r>
          </a:p>
          <a:p>
            <a:r>
              <a:rPr lang="en-US" sz="1800" dirty="0"/>
              <a:t>	- more robust inversions (</a:t>
            </a:r>
            <a:r>
              <a:rPr lang="en-US" sz="1800" dirty="0">
                <a:solidFill>
                  <a:srgbClr val="00B0F0"/>
                </a:solidFill>
              </a:rPr>
              <a:t>truncated SVD, nonlinear methods</a:t>
            </a:r>
            <a:r>
              <a:rPr lang="en-US" sz="1800" dirty="0"/>
              <a:t>)</a:t>
            </a:r>
          </a:p>
          <a:p>
            <a:r>
              <a:rPr lang="en-US" sz="1800" dirty="0"/>
              <a:t>	- highly selective pre-processing data analysis routine (</a:t>
            </a:r>
            <a:r>
              <a:rPr lang="en-US" sz="1800" dirty="0">
                <a:solidFill>
                  <a:srgbClr val="00B0F0"/>
                </a:solidFill>
              </a:rPr>
              <a:t>background 	prevention &amp; subtraction</a:t>
            </a:r>
            <a:r>
              <a:rPr lang="en-US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63211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9145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Forward Operator: Induction Physics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72FBF-5181-21E9-8BA0-55C1921F957B}"/>
              </a:ext>
            </a:extLst>
          </p:cNvPr>
          <p:cNvSpPr txBox="1"/>
          <p:nvPr/>
        </p:nvSpPr>
        <p:spPr>
          <a:xfrm>
            <a:off x="179971" y="917085"/>
            <a:ext cx="3465937" cy="1841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Dominant harmonic: </a:t>
            </a:r>
            <a:r>
              <a:rPr lang="en-US" sz="1800" dirty="0">
                <a:solidFill>
                  <a:srgbClr val="00B0F0"/>
                </a:solidFill>
                <a:latin typeface="+mn-lt"/>
                <a:sym typeface="Wingdings" pitchFamily="2" charset="2"/>
              </a:rPr>
              <a:t>synodic rotation period of Jupiter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Other inducing harmonics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Induction described by:</a:t>
            </a:r>
          </a:p>
        </p:txBody>
      </p:sp>
      <p:pic>
        <p:nvPicPr>
          <p:cNvPr id="5" name="Picture 4" descr="A graph of a graph showing a number of numbers&#10;&#10;Description automatically generated with medium confidence">
            <a:extLst>
              <a:ext uri="{FF2B5EF4-FFF2-40B4-BE49-F238E27FC236}">
                <a16:creationId xmlns:a16="http://schemas.microsoft.com/office/drawing/2014/main" id="{471EBB6C-4B98-E6F5-AEEB-81B6B6823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5908" y="887348"/>
            <a:ext cx="5186392" cy="1793091"/>
          </a:xfrm>
          <a:prstGeom prst="rect">
            <a:avLst/>
          </a:prstGeom>
        </p:spPr>
      </p:pic>
      <p:sp>
        <p:nvSpPr>
          <p:cNvPr id="6" name="Google Shape;102;p15">
            <a:extLst>
              <a:ext uri="{FF2B5EF4-FFF2-40B4-BE49-F238E27FC236}">
                <a16:creationId xmlns:a16="http://schemas.microsoft.com/office/drawing/2014/main" id="{1BDC435D-8FD3-4438-8E8F-6508E8166F47}"/>
              </a:ext>
            </a:extLst>
          </p:cNvPr>
          <p:cNvSpPr txBox="1"/>
          <p:nvPr/>
        </p:nvSpPr>
        <p:spPr>
          <a:xfrm>
            <a:off x="7973380" y="2492807"/>
            <a:ext cx="234088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Vance et al. (2021)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A1DC1-CE2B-F9B6-5FBC-A4420DA9FCB0}"/>
              </a:ext>
            </a:extLst>
          </p:cNvPr>
          <p:cNvSpPr txBox="1"/>
          <p:nvPr/>
        </p:nvSpPr>
        <p:spPr>
          <a:xfrm>
            <a:off x="179970" y="3233564"/>
            <a:ext cx="8841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 spherical harmonic decomposition assuming spherical symmetry isotropic 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For a prescribed subsurface conductivity profile, the inductive response is: </a:t>
            </a:r>
          </a:p>
        </p:txBody>
      </p:sp>
      <p:pic>
        <p:nvPicPr>
          <p:cNvPr id="13" name="Picture 12" descr="A close up of a number&#10;&#10;Description automatically generated">
            <a:extLst>
              <a:ext uri="{FF2B5EF4-FFF2-40B4-BE49-F238E27FC236}">
                <a16:creationId xmlns:a16="http://schemas.microsoft.com/office/drawing/2014/main" id="{3CC7BBF0-E330-963B-46B3-D2836C8C0F5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8669" b="26399"/>
          <a:stretch/>
        </p:blipFill>
        <p:spPr>
          <a:xfrm>
            <a:off x="502873" y="2815942"/>
            <a:ext cx="5153036" cy="3776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FD514B-2FF5-1FB6-8849-630D03E2BAA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8592" b="23425"/>
          <a:stretch/>
        </p:blipFill>
        <p:spPr>
          <a:xfrm>
            <a:off x="960877" y="3976150"/>
            <a:ext cx="6744848" cy="54025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15A732-1776-37D1-9C27-DD395EFED47D}"/>
                  </a:ext>
                </a:extLst>
              </p:cNvPr>
              <p:cNvSpPr txBox="1"/>
              <p:nvPr/>
            </p:nvSpPr>
            <p:spPr>
              <a:xfrm>
                <a:off x="5997941" y="925051"/>
                <a:ext cx="63472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1/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600" i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15A732-1776-37D1-9C27-DD395EFED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941" y="925051"/>
                <a:ext cx="634725" cy="338554"/>
              </a:xfrm>
              <a:prstGeom prst="rect">
                <a:avLst/>
              </a:prstGeom>
              <a:blipFill>
                <a:blip r:embed="rId8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2113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9145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Forward Operator: Induction Physics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102;p15">
            <a:extLst>
              <a:ext uri="{FF2B5EF4-FFF2-40B4-BE49-F238E27FC236}">
                <a16:creationId xmlns:a16="http://schemas.microsoft.com/office/drawing/2014/main" id="{1BDC435D-8FD3-4438-8E8F-6508E8166F47}"/>
              </a:ext>
            </a:extLst>
          </p:cNvPr>
          <p:cNvSpPr txBox="1"/>
          <p:nvPr/>
        </p:nvSpPr>
        <p:spPr>
          <a:xfrm>
            <a:off x="7396582" y="1946719"/>
            <a:ext cx="234088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(Zimmer et al., 2000)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FD514B-2FF5-1FB6-8849-630D03E2BAA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592" b="23425"/>
          <a:stretch/>
        </p:blipFill>
        <p:spPr>
          <a:xfrm>
            <a:off x="1258822" y="875724"/>
            <a:ext cx="6621023" cy="530341"/>
          </a:xfrm>
          <a:prstGeom prst="rect">
            <a:avLst/>
          </a:prstGeom>
        </p:spPr>
      </p:pic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1C6E784-2D2F-87C3-572E-87B01EBBED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8688" y="1474977"/>
            <a:ext cx="5229225" cy="10300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C28F1A9-240B-3438-B6DD-D21A315613FD}"/>
                  </a:ext>
                </a:extLst>
              </p:cNvPr>
              <p:cNvSpPr txBox="1"/>
              <p:nvPr/>
            </p:nvSpPr>
            <p:spPr>
              <a:xfrm>
                <a:off x="151406" y="2608085"/>
                <a:ext cx="884118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è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𝜙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 are </a:t>
                </a:r>
                <a:r>
                  <a:rPr lang="en-US" sz="18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amplitude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 and </a:t>
                </a:r>
                <a:r>
                  <a:rPr lang="en-US" sz="18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phase lag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 of induced field signal</a:t>
                </a:r>
              </a:p>
              <a:p>
                <a:pPr marL="285750" indent="-285750">
                  <a:buFont typeface="Wingdings" pitchFamily="2" charset="2"/>
                  <a:buChar char="è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buFont typeface="Wingdings" pitchFamily="2" charset="2"/>
                  <a:buChar char="è"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Assume that Europa’s subsurface is </a:t>
                </a:r>
                <a:r>
                  <a:rPr lang="en-US" sz="18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discretized into 3 layers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:</a:t>
                </a:r>
              </a:p>
              <a:p>
                <a:pPr marL="285750" indent="-285750">
                  <a:buFont typeface="Wingdings" pitchFamily="2" charset="2"/>
                  <a:buChar char="è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buFont typeface="Wingdings" pitchFamily="2" charset="2"/>
                  <a:buChar char="è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𝜙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 dependent on subsurface ocean thickness, depth,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𝜎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C28F1A9-240B-3438-B6DD-D21A31561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06" y="2608085"/>
                <a:ext cx="8841188" cy="1477328"/>
              </a:xfrm>
              <a:prstGeom prst="rect">
                <a:avLst/>
              </a:prstGeom>
              <a:blipFill>
                <a:blip r:embed="rId7"/>
                <a:stretch>
                  <a:fillRect l="-431" t="-1709" b="-5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 descr="A diagram of a circle with arrows and a piece of pie&#10;&#10;Description automatically generated">
            <a:extLst>
              <a:ext uri="{FF2B5EF4-FFF2-40B4-BE49-F238E27FC236}">
                <a16:creationId xmlns:a16="http://schemas.microsoft.com/office/drawing/2014/main" id="{BDC7E761-D40C-3E72-DB03-E16837CFCB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1" y="2338808"/>
            <a:ext cx="2234188" cy="213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47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9145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Forward Operator: Induction Physics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102;p15">
            <a:extLst>
              <a:ext uri="{FF2B5EF4-FFF2-40B4-BE49-F238E27FC236}">
                <a16:creationId xmlns:a16="http://schemas.microsoft.com/office/drawing/2014/main" id="{1BDC435D-8FD3-4438-8E8F-6508E8166F47}"/>
              </a:ext>
            </a:extLst>
          </p:cNvPr>
          <p:cNvSpPr txBox="1"/>
          <p:nvPr/>
        </p:nvSpPr>
        <p:spPr>
          <a:xfrm>
            <a:off x="7396582" y="1946719"/>
            <a:ext cx="234088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(Zimmer et al., 2000)</a:t>
            </a:r>
          </a:p>
        </p:txBody>
      </p:sp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1C6E784-2D2F-87C3-572E-87B01EBBE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8688" y="751845"/>
            <a:ext cx="5229225" cy="1030098"/>
          </a:xfrm>
          <a:prstGeom prst="rect">
            <a:avLst/>
          </a:prstGeom>
        </p:spPr>
      </p:pic>
      <p:pic>
        <p:nvPicPr>
          <p:cNvPr id="18" name="Picture 17" descr="A diagram of a circle with arrows and a piece of pie&#10;&#10;Description automatically generated">
            <a:extLst>
              <a:ext uri="{FF2B5EF4-FFF2-40B4-BE49-F238E27FC236}">
                <a16:creationId xmlns:a16="http://schemas.microsoft.com/office/drawing/2014/main" id="{BDC7E761-D40C-3E72-DB03-E16837CFCB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1" y="2338808"/>
            <a:ext cx="2234188" cy="2134336"/>
          </a:xfrm>
          <a:prstGeom prst="rect">
            <a:avLst/>
          </a:prstGeom>
        </p:spPr>
      </p:pic>
      <p:pic>
        <p:nvPicPr>
          <p:cNvPr id="27" name="Picture 2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BD578B3-94E7-9AFD-F818-3AECBD5684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539" y="1728122"/>
            <a:ext cx="4880961" cy="897437"/>
          </a:xfrm>
          <a:prstGeom prst="rect">
            <a:avLst/>
          </a:prstGeom>
        </p:spPr>
      </p:pic>
      <p:pic>
        <p:nvPicPr>
          <p:cNvPr id="28" name="Picture 27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3D8D3216-47D2-F237-B928-E0824FC725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700" y="2703829"/>
            <a:ext cx="4020700" cy="1017952"/>
          </a:xfrm>
          <a:prstGeom prst="rect">
            <a:avLst/>
          </a:prstGeom>
        </p:spPr>
      </p:pic>
      <p:pic>
        <p:nvPicPr>
          <p:cNvPr id="29" name="Picture 2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25DD5234-C220-0ED7-109C-E6F494F99A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700" y="3721781"/>
            <a:ext cx="4575775" cy="8712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8D7358-FB89-9AC2-EDE2-C98BD260262A}"/>
              </a:ext>
            </a:extLst>
          </p:cNvPr>
          <p:cNvSpPr txBox="1"/>
          <p:nvPr/>
        </p:nvSpPr>
        <p:spPr>
          <a:xfrm>
            <a:off x="4887475" y="3788065"/>
            <a:ext cx="21616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complex wavenumber dependent on conductivity 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34B3AF-1CBD-0EF3-CC90-F6B917FC8EC7}"/>
              </a:ext>
            </a:extLst>
          </p:cNvPr>
          <p:cNvSpPr txBox="1"/>
          <p:nvPr/>
        </p:nvSpPr>
        <p:spPr>
          <a:xfrm>
            <a:off x="4332400" y="2978333"/>
            <a:ext cx="2270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coefficient dependent on ocean depth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2E7D2-995A-0ECD-24D2-F67DE0FC13FC}"/>
              </a:ext>
            </a:extLst>
          </p:cNvPr>
          <p:cNvSpPr txBox="1"/>
          <p:nvPr/>
        </p:nvSpPr>
        <p:spPr>
          <a:xfrm>
            <a:off x="4887475" y="1903557"/>
            <a:ext cx="2270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Amplitude, phase lag dependence</a:t>
            </a:r>
          </a:p>
        </p:txBody>
      </p:sp>
    </p:spTree>
    <p:extLst>
      <p:ext uri="{BB962C8B-B14F-4D97-AF65-F5344CB8AC3E}">
        <p14:creationId xmlns:p14="http://schemas.microsoft.com/office/powerpoint/2010/main" val="1002008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9145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Inductive Response: Perfect Conductor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172FBF-5181-21E9-8BA0-55C1921F957B}"/>
                  </a:ext>
                </a:extLst>
              </p:cNvPr>
              <p:cNvSpPr txBox="1"/>
              <p:nvPr/>
            </p:nvSpPr>
            <p:spPr>
              <a:xfrm>
                <a:off x="48788" y="745845"/>
                <a:ext cx="8972370" cy="4317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In the most coarse treatment, Europa is considered a </a:t>
                </a:r>
                <a:r>
                  <a:rPr lang="en-US" sz="18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perfect spherical conductor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</a:t>
                </a:r>
                <a:r>
                  <a:rPr lang="en-US" sz="24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→1,</m:t>
                    </m:r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𝜙</m:t>
                    </m:r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→0º</m:t>
                    </m:r>
                  </m:oMath>
                </a14:m>
                <a:endParaRPr lang="en-US" sz="2400" dirty="0">
                  <a:solidFill>
                    <a:srgbClr val="00B0F0"/>
                  </a:solidFill>
                  <a:latin typeface="+mn-lt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172FBF-5181-21E9-8BA0-55C1921F9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8" y="745845"/>
                <a:ext cx="8972370" cy="4317336"/>
              </a:xfrm>
              <a:prstGeom prst="rect">
                <a:avLst/>
              </a:prstGeom>
              <a:blipFill>
                <a:blip r:embed="rId5"/>
                <a:stretch>
                  <a:fillRect l="-424" b="-1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D49D920B-62B5-D484-1558-ABD39F59A4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897" y="1280445"/>
            <a:ext cx="7296151" cy="31407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B6029D-1D10-3FE6-394C-A8536120F9B0}"/>
                  </a:ext>
                </a:extLst>
              </p:cNvPr>
              <p:cNvSpPr txBox="1"/>
              <p:nvPr/>
            </p:nvSpPr>
            <p:spPr>
              <a:xfrm>
                <a:off x="935396" y="1381125"/>
                <a:ext cx="206531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B6029D-1D10-3FE6-394C-A8536120F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96" y="1381125"/>
                <a:ext cx="206531" cy="523220"/>
              </a:xfrm>
              <a:prstGeom prst="rect">
                <a:avLst/>
              </a:prstGeom>
              <a:blipFill>
                <a:blip r:embed="rId7"/>
                <a:stretch>
                  <a:fillRect r="-4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514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014" y="-713910"/>
            <a:ext cx="5481986" cy="192588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Inductive Response: 3-Layer Approximation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" name="Picture 16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964DBBC0-756A-6AB8-AF98-AAD672871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42" y="43642"/>
            <a:ext cx="3134425" cy="50622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7AF0420-2D86-0981-39DD-EC43F82EEF7A}"/>
                  </a:ext>
                </a:extLst>
              </p:cNvPr>
              <p:cNvSpPr txBox="1"/>
              <p:nvPr/>
            </p:nvSpPr>
            <p:spPr>
              <a:xfrm>
                <a:off x="3437747" y="1211970"/>
                <a:ext cx="4924055" cy="577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100 km thickness </a:t>
                </a:r>
                <a:r>
                  <a:rPr lang="en-US" sz="24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→0.73</m:t>
                    </m:r>
                  </m:oMath>
                </a14:m>
                <a:endParaRPr lang="en-US" sz="2400" dirty="0">
                  <a:solidFill>
                    <a:srgbClr val="00B0F0"/>
                  </a:solidFill>
                  <a:latin typeface="+mn-lt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7AF0420-2D86-0981-39DD-EC43F82EE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747" y="1211970"/>
                <a:ext cx="4924055" cy="577850"/>
              </a:xfrm>
              <a:prstGeom prst="rect">
                <a:avLst/>
              </a:prstGeom>
              <a:blipFill>
                <a:blip r:embed="rId6"/>
                <a:stretch>
                  <a:fillRect l="-1028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18CD45A-977C-3E15-819B-463FC5C9841C}"/>
                  </a:ext>
                </a:extLst>
              </p:cNvPr>
              <p:cNvSpPr txBox="1"/>
              <p:nvPr/>
            </p:nvSpPr>
            <p:spPr>
              <a:xfrm>
                <a:off x="3437747" y="2377795"/>
                <a:ext cx="4924055" cy="577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10 km thickness </a:t>
                </a:r>
                <a:r>
                  <a:rPr lang="en-US" sz="24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→0. 36</m:t>
                    </m:r>
                  </m:oMath>
                </a14:m>
                <a:endParaRPr lang="en-US" sz="2400" dirty="0">
                  <a:solidFill>
                    <a:srgbClr val="00B0F0"/>
                  </a:solidFill>
                  <a:latin typeface="+mn-lt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18CD45A-977C-3E15-819B-463FC5C98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747" y="2377795"/>
                <a:ext cx="4924055" cy="577850"/>
              </a:xfrm>
              <a:prstGeom prst="rect">
                <a:avLst/>
              </a:prstGeom>
              <a:blipFill>
                <a:blip r:embed="rId7"/>
                <a:stretch>
                  <a:fillRect l="-102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2D4F66-416B-B715-9096-41255E455B1A}"/>
                  </a:ext>
                </a:extLst>
              </p:cNvPr>
              <p:cNvSpPr txBox="1"/>
              <p:nvPr/>
            </p:nvSpPr>
            <p:spPr>
              <a:xfrm>
                <a:off x="3424707" y="3715700"/>
                <a:ext cx="4924055" cy="577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100 km thickness, weak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𝜎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 </a:t>
                </a:r>
                <a:r>
                  <a:rPr lang="en-US" sz="24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→0. 32</m:t>
                    </m:r>
                  </m:oMath>
                </a14:m>
                <a:endParaRPr lang="en-US" sz="2400" dirty="0">
                  <a:solidFill>
                    <a:srgbClr val="00B0F0"/>
                  </a:solidFill>
                  <a:latin typeface="+mn-lt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2D4F66-416B-B715-9096-41255E455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707" y="3715700"/>
                <a:ext cx="4924055" cy="577850"/>
              </a:xfrm>
              <a:prstGeom prst="rect">
                <a:avLst/>
              </a:prstGeom>
              <a:blipFill>
                <a:blip r:embed="rId8"/>
                <a:stretch>
                  <a:fillRect l="-102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D9040F59-7722-7BD1-4F4C-1F0D2BB05800}"/>
              </a:ext>
            </a:extLst>
          </p:cNvPr>
          <p:cNvSpPr txBox="1"/>
          <p:nvPr/>
        </p:nvSpPr>
        <p:spPr>
          <a:xfrm>
            <a:off x="175193" y="129923"/>
            <a:ext cx="165782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u="sng" dirty="0"/>
              <a:t>conductivity profile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DD7231-A0BF-D657-3D98-6D49D6169AB7}"/>
                  </a:ext>
                </a:extLst>
              </p:cNvPr>
              <p:cNvSpPr txBox="1"/>
              <p:nvPr/>
            </p:nvSpPr>
            <p:spPr>
              <a:xfrm>
                <a:off x="2017691" y="129922"/>
                <a:ext cx="105490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u="sng" dirty="0"/>
                  <a:t>surface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u="sng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u="sng" smtClean="0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d>
                  </m:oMath>
                </a14:m>
                <a:endParaRPr lang="en-US" u="sng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DD7231-A0BF-D657-3D98-6D49D6169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691" y="129922"/>
                <a:ext cx="1054904" cy="307777"/>
              </a:xfrm>
              <a:prstGeom prst="rect">
                <a:avLst/>
              </a:prstGeom>
              <a:blipFill>
                <a:blip r:embed="rId9"/>
                <a:stretch>
                  <a:fillRect l="-1190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217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9145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Contaminating magnetic “Noise”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72FBF-5181-21E9-8BA0-55C1921F957B}"/>
              </a:ext>
            </a:extLst>
          </p:cNvPr>
          <p:cNvSpPr txBox="1"/>
          <p:nvPr/>
        </p:nvSpPr>
        <p:spPr>
          <a:xfrm>
            <a:off x="48788" y="745845"/>
            <a:ext cx="8972370" cy="4195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Europa possesses a rich, dynamic plasma interaction with Jupiter’s magnetosphere: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Pile-up, draping, Alfvén Wings: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Plasma wave modes:</a:t>
            </a: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</p:txBody>
      </p:sp>
      <p:pic>
        <p:nvPicPr>
          <p:cNvPr id="5" name="Picture 4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2EE52603-006E-2842-D3AB-2FD845A2F1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700" y="1215202"/>
            <a:ext cx="5248275" cy="2500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315F70-BF9D-3756-0799-8591EB78F9E2}"/>
              </a:ext>
            </a:extLst>
          </p:cNvPr>
          <p:cNvSpPr txBox="1"/>
          <p:nvPr/>
        </p:nvSpPr>
        <p:spPr>
          <a:xfrm>
            <a:off x="6565094" y="3934400"/>
            <a:ext cx="2592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(Addison, Haynes et al., 2024)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B1E732-A7C2-7AB5-4BD1-45A3D56361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6513" y="1658639"/>
            <a:ext cx="1849857" cy="1613247"/>
          </a:xfrm>
          <a:prstGeom prst="rect">
            <a:avLst/>
          </a:prstGeom>
        </p:spPr>
      </p:pic>
      <p:pic>
        <p:nvPicPr>
          <p:cNvPr id="8194" name="Picture 2" descr="All Hands on Deck to Catch Ion Cyclotron Waves - Eos">
            <a:extLst>
              <a:ext uri="{FF2B5EF4-FFF2-40B4-BE49-F238E27FC236}">
                <a16:creationId xmlns:a16="http://schemas.microsoft.com/office/drawing/2014/main" id="{BA0EE419-E351-CDCA-4E11-AAFC1ECDB2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6" r="7549" b="75185"/>
          <a:stretch/>
        </p:blipFill>
        <p:spPr bwMode="auto">
          <a:xfrm>
            <a:off x="48788" y="3783489"/>
            <a:ext cx="4125308" cy="899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46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6" name="Google Shape;192;p7">
            <a:extLst>
              <a:ext uri="{FF2B5EF4-FFF2-40B4-BE49-F238E27FC236}">
                <a16:creationId xmlns:a16="http://schemas.microsoft.com/office/drawing/2014/main" id="{4BB27A5C-574C-DC30-058F-047B1CA75B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94;p7">
            <a:extLst>
              <a:ext uri="{FF2B5EF4-FFF2-40B4-BE49-F238E27FC236}">
                <a16:creationId xmlns:a16="http://schemas.microsoft.com/office/drawing/2014/main" id="{DF5B4E6D-C754-F65C-49BF-F0E65A2CE8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88;p7">
            <a:extLst>
              <a:ext uri="{FF2B5EF4-FFF2-40B4-BE49-F238E27FC236}">
                <a16:creationId xmlns:a16="http://schemas.microsoft.com/office/drawing/2014/main" id="{A27E2099-249B-096E-A6EB-5F0DE46DB1CB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B05EF0-188E-F5F3-F577-B44B073A531D}"/>
              </a:ext>
            </a:extLst>
          </p:cNvPr>
          <p:cNvCxnSpPr>
            <a:cxnSpLocks/>
          </p:cNvCxnSpPr>
          <p:nvPr/>
        </p:nvCxnSpPr>
        <p:spPr>
          <a:xfrm>
            <a:off x="4572000" y="772165"/>
            <a:ext cx="0" cy="1819905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7E684EE-F09A-FB76-C2D6-1C483F7B4546}"/>
              </a:ext>
            </a:extLst>
          </p:cNvPr>
          <p:cNvSpPr txBox="1"/>
          <p:nvPr/>
        </p:nvSpPr>
        <p:spPr>
          <a:xfrm>
            <a:off x="45484" y="626493"/>
            <a:ext cx="46695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Goal</a:t>
            </a:r>
            <a:r>
              <a:rPr lang="en-US" sz="2000" b="1" dirty="0"/>
              <a:t>: </a:t>
            </a:r>
            <a:r>
              <a:rPr lang="en-US" sz="2000" dirty="0"/>
              <a:t>Constrain the subsurface stratification of Europa</a:t>
            </a:r>
          </a:p>
          <a:p>
            <a:r>
              <a:rPr lang="en-US" sz="2000" b="1" dirty="0"/>
              <a:t> </a:t>
            </a:r>
            <a:endParaRPr lang="en-US" sz="2000" b="1" u="sng" dirty="0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A61BE26A-B1B9-DA64-CB59-ADD646F6B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142" y="438743"/>
            <a:ext cx="8520600" cy="572700"/>
          </a:xfrm>
        </p:spPr>
        <p:txBody>
          <a:bodyPr>
            <a:noAutofit/>
          </a:bodyPr>
          <a:lstStyle/>
          <a:p>
            <a:r>
              <a:rPr lang="en-US" sz="2000" b="1" dirty="0"/>
              <a:t>Summary: Magnetic Induction Sounding at Europa</a:t>
            </a:r>
            <a:br>
              <a:rPr lang="en-US" sz="2800" b="1" dirty="0"/>
            </a:br>
            <a:endParaRPr lang="en-US" sz="2800" b="1" dirty="0"/>
          </a:p>
        </p:txBody>
      </p:sp>
      <p:pic>
        <p:nvPicPr>
          <p:cNvPr id="3" name="Picture 2" descr="Model of Europa's Subsurface Structure | NASA Jet Propulsion Laboratory  (JPL)">
            <a:extLst>
              <a:ext uri="{FF2B5EF4-FFF2-40B4-BE49-F238E27FC236}">
                <a16:creationId xmlns:a16="http://schemas.microsoft.com/office/drawing/2014/main" id="{6B1F0D84-DF0C-D8E8-6562-E732ED2820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678152" y="1354606"/>
            <a:ext cx="1845518" cy="119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white round object with brown veins&#10;&#10;Description automatically generated">
            <a:extLst>
              <a:ext uri="{FF2B5EF4-FFF2-40B4-BE49-F238E27FC236}">
                <a16:creationId xmlns:a16="http://schemas.microsoft.com/office/drawing/2014/main" id="{672923DA-70C8-0B0A-5547-B867C7222B6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8040" y="1354703"/>
            <a:ext cx="1107405" cy="111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99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6" name="Google Shape;192;p7">
            <a:extLst>
              <a:ext uri="{FF2B5EF4-FFF2-40B4-BE49-F238E27FC236}">
                <a16:creationId xmlns:a16="http://schemas.microsoft.com/office/drawing/2014/main" id="{4BB27A5C-574C-DC30-058F-047B1CA75B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94;p7">
            <a:extLst>
              <a:ext uri="{FF2B5EF4-FFF2-40B4-BE49-F238E27FC236}">
                <a16:creationId xmlns:a16="http://schemas.microsoft.com/office/drawing/2014/main" id="{DF5B4E6D-C754-F65C-49BF-F0E65A2CE8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88;p7">
            <a:extLst>
              <a:ext uri="{FF2B5EF4-FFF2-40B4-BE49-F238E27FC236}">
                <a16:creationId xmlns:a16="http://schemas.microsoft.com/office/drawing/2014/main" id="{A27E2099-249B-096E-A6EB-5F0DE46DB1CB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30944-D6A4-3F81-43FD-86E0CD40719D}"/>
              </a:ext>
            </a:extLst>
          </p:cNvPr>
          <p:cNvSpPr txBox="1"/>
          <p:nvPr/>
        </p:nvSpPr>
        <p:spPr>
          <a:xfrm>
            <a:off x="4753838" y="630975"/>
            <a:ext cx="44877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Method</a:t>
            </a:r>
            <a:r>
              <a:rPr lang="en-US" sz="2000" b="1" dirty="0"/>
              <a:t>: </a:t>
            </a:r>
            <a:r>
              <a:rPr lang="en-US" sz="2000" dirty="0"/>
              <a:t>Combine in-situ magnetometer observations, context-driven data filtration and assumption of a salty, symmetric liquid layer</a:t>
            </a:r>
            <a:endParaRPr lang="en-US" sz="2000" u="sn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B05EF0-188E-F5F3-F577-B44B073A531D}"/>
              </a:ext>
            </a:extLst>
          </p:cNvPr>
          <p:cNvCxnSpPr>
            <a:cxnSpLocks/>
          </p:cNvCxnSpPr>
          <p:nvPr/>
        </p:nvCxnSpPr>
        <p:spPr>
          <a:xfrm>
            <a:off x="4572000" y="772165"/>
            <a:ext cx="0" cy="1819905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158C13E-38A4-F780-DB09-E61CD26F7959}"/>
              </a:ext>
            </a:extLst>
          </p:cNvPr>
          <p:cNvCxnSpPr>
            <a:cxnSpLocks/>
          </p:cNvCxnSpPr>
          <p:nvPr/>
        </p:nvCxnSpPr>
        <p:spPr>
          <a:xfrm flipH="1">
            <a:off x="0" y="2592070"/>
            <a:ext cx="914400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7E684EE-F09A-FB76-C2D6-1C483F7B4546}"/>
              </a:ext>
            </a:extLst>
          </p:cNvPr>
          <p:cNvSpPr txBox="1"/>
          <p:nvPr/>
        </p:nvSpPr>
        <p:spPr>
          <a:xfrm>
            <a:off x="45484" y="626493"/>
            <a:ext cx="46695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Goal</a:t>
            </a:r>
            <a:r>
              <a:rPr lang="en-US" sz="2000" b="1" dirty="0"/>
              <a:t>: </a:t>
            </a:r>
            <a:r>
              <a:rPr lang="en-US" sz="2000" dirty="0"/>
              <a:t>Constrain the subsurface stratification of Europa</a:t>
            </a:r>
          </a:p>
          <a:p>
            <a:r>
              <a:rPr lang="en-US" sz="2000" b="1" dirty="0"/>
              <a:t> </a:t>
            </a:r>
            <a:endParaRPr lang="en-US" sz="2000" b="1" u="sng" dirty="0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A61BE26A-B1B9-DA64-CB59-ADD646F6B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142" y="438743"/>
            <a:ext cx="8520600" cy="572700"/>
          </a:xfrm>
        </p:spPr>
        <p:txBody>
          <a:bodyPr>
            <a:noAutofit/>
          </a:bodyPr>
          <a:lstStyle/>
          <a:p>
            <a:r>
              <a:rPr lang="en-US" sz="2000" b="1" dirty="0"/>
              <a:t>Summary: Magnetic Induction Sounding at Europa</a:t>
            </a:r>
            <a:br>
              <a:rPr lang="en-US" sz="2800" b="1" dirty="0"/>
            </a:br>
            <a:endParaRPr lang="en-US" sz="2800" b="1" dirty="0"/>
          </a:p>
        </p:txBody>
      </p:sp>
      <p:pic>
        <p:nvPicPr>
          <p:cNvPr id="3" name="Picture 2" descr="Model of Europa's Subsurface Structure | NASA Jet Propulsion Laboratory  (JPL)">
            <a:extLst>
              <a:ext uri="{FF2B5EF4-FFF2-40B4-BE49-F238E27FC236}">
                <a16:creationId xmlns:a16="http://schemas.microsoft.com/office/drawing/2014/main" id="{6B1F0D84-DF0C-D8E8-6562-E732ED2820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678152" y="1354606"/>
            <a:ext cx="1845518" cy="119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white round object with brown veins&#10;&#10;Description automatically generated">
            <a:extLst>
              <a:ext uri="{FF2B5EF4-FFF2-40B4-BE49-F238E27FC236}">
                <a16:creationId xmlns:a16="http://schemas.microsoft.com/office/drawing/2014/main" id="{672923DA-70C8-0B0A-5547-B867C7222B6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8040" y="1354703"/>
            <a:ext cx="1107405" cy="11123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4B9A29-9346-6506-2578-817EC953222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8592" b="23425"/>
          <a:stretch/>
        </p:blipFill>
        <p:spPr>
          <a:xfrm>
            <a:off x="4744575" y="2209551"/>
            <a:ext cx="4351403" cy="34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785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6" name="Google Shape;192;p7">
            <a:extLst>
              <a:ext uri="{FF2B5EF4-FFF2-40B4-BE49-F238E27FC236}">
                <a16:creationId xmlns:a16="http://schemas.microsoft.com/office/drawing/2014/main" id="{4BB27A5C-574C-DC30-058F-047B1CA75B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94;p7">
            <a:extLst>
              <a:ext uri="{FF2B5EF4-FFF2-40B4-BE49-F238E27FC236}">
                <a16:creationId xmlns:a16="http://schemas.microsoft.com/office/drawing/2014/main" id="{DF5B4E6D-C754-F65C-49BF-F0E65A2CE8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88;p7">
            <a:extLst>
              <a:ext uri="{FF2B5EF4-FFF2-40B4-BE49-F238E27FC236}">
                <a16:creationId xmlns:a16="http://schemas.microsoft.com/office/drawing/2014/main" id="{A27E2099-249B-096E-A6EB-5F0DE46DB1CB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30944-D6A4-3F81-43FD-86E0CD40719D}"/>
              </a:ext>
            </a:extLst>
          </p:cNvPr>
          <p:cNvSpPr txBox="1"/>
          <p:nvPr/>
        </p:nvSpPr>
        <p:spPr>
          <a:xfrm>
            <a:off x="4753838" y="630975"/>
            <a:ext cx="44877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Method</a:t>
            </a:r>
            <a:r>
              <a:rPr lang="en-US" sz="2000" b="1" dirty="0"/>
              <a:t>: </a:t>
            </a:r>
            <a:r>
              <a:rPr lang="en-US" sz="2000" dirty="0"/>
              <a:t>Combine in-situ magnetometer observations, context-driven data filtration and assumption of a salty, symmetric liquid layer</a:t>
            </a:r>
            <a:endParaRPr lang="en-US" sz="2000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1CF04-3200-0CC7-C5E8-3DDB7AC99C3A}"/>
              </a:ext>
            </a:extLst>
          </p:cNvPr>
          <p:cNvSpPr txBox="1"/>
          <p:nvPr/>
        </p:nvSpPr>
        <p:spPr>
          <a:xfrm>
            <a:off x="45484" y="2632712"/>
            <a:ext cx="90790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Results</a:t>
            </a:r>
            <a:r>
              <a:rPr lang="en-US" sz="2000" b="1" dirty="0"/>
              <a:t>: Improved constraints on the depth, thickness, and bulk conductivity of Europa’s subsurface liquid water ocean</a:t>
            </a:r>
            <a:endParaRPr lang="en-US" sz="2000" b="1" u="sng" dirty="0">
              <a:solidFill>
                <a:srgbClr val="00B0F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B05EF0-188E-F5F3-F577-B44B073A531D}"/>
              </a:ext>
            </a:extLst>
          </p:cNvPr>
          <p:cNvCxnSpPr>
            <a:cxnSpLocks/>
          </p:cNvCxnSpPr>
          <p:nvPr/>
        </p:nvCxnSpPr>
        <p:spPr>
          <a:xfrm>
            <a:off x="4572000" y="772165"/>
            <a:ext cx="0" cy="1819905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158C13E-38A4-F780-DB09-E61CD26F7959}"/>
              </a:ext>
            </a:extLst>
          </p:cNvPr>
          <p:cNvCxnSpPr>
            <a:cxnSpLocks/>
          </p:cNvCxnSpPr>
          <p:nvPr/>
        </p:nvCxnSpPr>
        <p:spPr>
          <a:xfrm flipH="1">
            <a:off x="0" y="2592070"/>
            <a:ext cx="914400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7E684EE-F09A-FB76-C2D6-1C483F7B4546}"/>
              </a:ext>
            </a:extLst>
          </p:cNvPr>
          <p:cNvSpPr txBox="1"/>
          <p:nvPr/>
        </p:nvSpPr>
        <p:spPr>
          <a:xfrm>
            <a:off x="45484" y="626493"/>
            <a:ext cx="46695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Goal</a:t>
            </a:r>
            <a:r>
              <a:rPr lang="en-US" sz="2000" b="1" dirty="0"/>
              <a:t>: </a:t>
            </a:r>
            <a:r>
              <a:rPr lang="en-US" sz="2000" dirty="0"/>
              <a:t>Constrain the subsurface stratification of Europa</a:t>
            </a:r>
          </a:p>
          <a:p>
            <a:r>
              <a:rPr lang="en-US" sz="2000" b="1" dirty="0"/>
              <a:t> </a:t>
            </a:r>
            <a:endParaRPr lang="en-US" sz="2000" b="1" u="sng" dirty="0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A61BE26A-B1B9-DA64-CB59-ADD646F6B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142" y="438743"/>
            <a:ext cx="8520600" cy="572700"/>
          </a:xfrm>
        </p:spPr>
        <p:txBody>
          <a:bodyPr>
            <a:noAutofit/>
          </a:bodyPr>
          <a:lstStyle/>
          <a:p>
            <a:r>
              <a:rPr lang="en-US" sz="2000" b="1" dirty="0"/>
              <a:t>Summary: Magnetic Induction Sounding at Europa</a:t>
            </a:r>
            <a:br>
              <a:rPr lang="en-US" sz="2800" b="1" dirty="0"/>
            </a:br>
            <a:endParaRPr lang="en-US" sz="2800" b="1" dirty="0"/>
          </a:p>
        </p:txBody>
      </p:sp>
      <p:pic>
        <p:nvPicPr>
          <p:cNvPr id="3" name="Picture 2" descr="Model of Europa's Subsurface Structure | NASA Jet Propulsion Laboratory  (JPL)">
            <a:extLst>
              <a:ext uri="{FF2B5EF4-FFF2-40B4-BE49-F238E27FC236}">
                <a16:creationId xmlns:a16="http://schemas.microsoft.com/office/drawing/2014/main" id="{6B1F0D84-DF0C-D8E8-6562-E732ED2820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678152" y="1354606"/>
            <a:ext cx="1845518" cy="119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white round object with brown veins&#10;&#10;Description automatically generated">
            <a:extLst>
              <a:ext uri="{FF2B5EF4-FFF2-40B4-BE49-F238E27FC236}">
                <a16:creationId xmlns:a16="http://schemas.microsoft.com/office/drawing/2014/main" id="{672923DA-70C8-0B0A-5547-B867C7222B6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8040" y="1354703"/>
            <a:ext cx="1107405" cy="11123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4B9A29-9346-6506-2578-817EC953222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8592" b="23425"/>
          <a:stretch/>
        </p:blipFill>
        <p:spPr>
          <a:xfrm>
            <a:off x="4744575" y="2209551"/>
            <a:ext cx="4351403" cy="348545"/>
          </a:xfrm>
          <a:prstGeom prst="rect">
            <a:avLst/>
          </a:prstGeom>
        </p:spPr>
      </p:pic>
      <p:pic>
        <p:nvPicPr>
          <p:cNvPr id="16" name="Picture 15" descr="A graph of a magnetic field&#10;&#10;Description automatically generated">
            <a:extLst>
              <a:ext uri="{FF2B5EF4-FFF2-40B4-BE49-F238E27FC236}">
                <a16:creationId xmlns:a16="http://schemas.microsoft.com/office/drawing/2014/main" id="{BF7E075C-3FB5-9119-F952-8975774CE1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1900" y="3441588"/>
            <a:ext cx="2857500" cy="1529833"/>
          </a:xfrm>
          <a:prstGeom prst="rect">
            <a:avLst/>
          </a:prstGeom>
        </p:spPr>
      </p:pic>
      <p:pic>
        <p:nvPicPr>
          <p:cNvPr id="19" name="Picture 18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998F126A-01FB-559C-FEF1-54DB24533F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40" y="3441588"/>
            <a:ext cx="2857500" cy="152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20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C8E5-C0E9-2731-4689-70A1D4CB6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1376062"/>
            <a:ext cx="5600700" cy="1743675"/>
          </a:xfrm>
        </p:spPr>
        <p:txBody>
          <a:bodyPr>
            <a:noAutofit/>
          </a:bodyPr>
          <a:lstStyle/>
          <a:p>
            <a:r>
              <a:rPr lang="en-US" sz="7200" b="1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F4670-A0A5-C08E-244A-7AAE1FF07D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37647104"/>
      </p:ext>
    </p:extLst>
  </p:cSld>
  <p:clrMapOvr>
    <a:masterClrMapping/>
  </p:clrMapOvr>
</p:sld>
</file>

<file path=ppt/theme/theme1.xml><?xml version="1.0" encoding="utf-8"?>
<a:theme xmlns:a="http://schemas.openxmlformats.org/drawingml/2006/main" name="Essential">
  <a:themeElements>
    <a:clrScheme name="Custom 8">
      <a:dk1>
        <a:srgbClr val="00063F"/>
      </a:dk1>
      <a:lt1>
        <a:srgbClr val="FFFFFF"/>
      </a:lt1>
      <a:dk2>
        <a:srgbClr val="CC9900"/>
      </a:dk2>
      <a:lt2>
        <a:srgbClr val="F0E6C3"/>
      </a:lt2>
      <a:accent1>
        <a:srgbClr val="1A006E"/>
      </a:accent1>
      <a:accent2>
        <a:srgbClr val="F88600"/>
      </a:accent2>
      <a:accent3>
        <a:srgbClr val="F83500"/>
      </a:accent3>
      <a:accent4>
        <a:srgbClr val="8B723D"/>
      </a:accent4>
      <a:accent5>
        <a:srgbClr val="818B3D"/>
      </a:accent5>
      <a:accent6>
        <a:srgbClr val="586215"/>
      </a:accent6>
      <a:hlink>
        <a:srgbClr val="FF621D"/>
      </a:hlink>
      <a:folHlink>
        <a:srgbClr val="F3D2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ynes Senior Seminar II Presentation (FINAL)" id="{EAA84077-E73A-5645-A87C-93E96515742A}" vid="{A0BBA2F2-C3B8-684B-960F-3DCE0AA3FB0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170747</TotalTime>
  <Words>1093</Words>
  <Application>Microsoft Macintosh PowerPoint</Application>
  <PresentationFormat>On-screen Show (16:9)</PresentationFormat>
  <Paragraphs>152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Cambria Math</vt:lpstr>
      <vt:lpstr>Gill Sans MT</vt:lpstr>
      <vt:lpstr>Helvetica</vt:lpstr>
      <vt:lpstr>Times New Roman</vt:lpstr>
      <vt:lpstr>Wingdings</vt:lpstr>
      <vt:lpstr>Essential</vt:lpstr>
      <vt:lpstr>Towards a Constrained Understanding of Europa’s Subsurface Driven by Magnetic Induction Sounding</vt:lpstr>
      <vt:lpstr>Europa: Background</vt:lpstr>
      <vt:lpstr>Europa: Background</vt:lpstr>
      <vt:lpstr>Science Question</vt:lpstr>
      <vt:lpstr>Science Question</vt:lpstr>
      <vt:lpstr>Forward Operator: Induction Physics</vt:lpstr>
      <vt:lpstr>Forward Operator: Induction Physics</vt:lpstr>
      <vt:lpstr>Forward Operator: Induction Physics</vt:lpstr>
      <vt:lpstr>Inductive Response: Perfect Conductor</vt:lpstr>
      <vt:lpstr>Inductive Response: 3-Layer Approximation</vt:lpstr>
      <vt:lpstr>Contaminating magnetic “Noise”</vt:lpstr>
      <vt:lpstr>Summary: Magnetic Induction Sounding at Europa </vt:lpstr>
      <vt:lpstr>Summary: Magnetic Induction Sounding at Europa </vt:lpstr>
      <vt:lpstr>Summary: Magnetic Induction Sounding at Europa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Emission of Energetic Neutral Atoms at Callisto and Europa</dc:title>
  <dc:creator>Haynes, Charles M</dc:creator>
  <cp:lastModifiedBy>Haynes, Charles M</cp:lastModifiedBy>
  <cp:revision>270</cp:revision>
  <cp:lastPrinted>2022-04-15T15:59:32Z</cp:lastPrinted>
  <dcterms:created xsi:type="dcterms:W3CDTF">2023-07-21T15:53:35Z</dcterms:created>
  <dcterms:modified xsi:type="dcterms:W3CDTF">2026-03-09T16:11:31Z</dcterms:modified>
</cp:coreProperties>
</file>