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0" r:id="rId1"/>
  </p:sldMasterIdLst>
  <p:notesMasterIdLst>
    <p:notesMasterId r:id="rId28"/>
  </p:notesMasterIdLst>
  <p:sldIdLst>
    <p:sldId id="399" r:id="rId2"/>
    <p:sldId id="355" r:id="rId3"/>
    <p:sldId id="625" r:id="rId4"/>
    <p:sldId id="401" r:id="rId5"/>
    <p:sldId id="626" r:id="rId6"/>
    <p:sldId id="630" r:id="rId7"/>
    <p:sldId id="638" r:id="rId8"/>
    <p:sldId id="632" r:id="rId9"/>
    <p:sldId id="637" r:id="rId10"/>
    <p:sldId id="639" r:id="rId11"/>
    <p:sldId id="640" r:id="rId12"/>
    <p:sldId id="641" r:id="rId13"/>
    <p:sldId id="642" r:id="rId14"/>
    <p:sldId id="628" r:id="rId15"/>
    <p:sldId id="643" r:id="rId16"/>
    <p:sldId id="644" r:id="rId17"/>
    <p:sldId id="645" r:id="rId18"/>
    <p:sldId id="646" r:id="rId19"/>
    <p:sldId id="647" r:id="rId20"/>
    <p:sldId id="648" r:id="rId21"/>
    <p:sldId id="649" r:id="rId22"/>
    <p:sldId id="650" r:id="rId23"/>
    <p:sldId id="624" r:id="rId24"/>
    <p:sldId id="635" r:id="rId25"/>
    <p:sldId id="634" r:id="rId26"/>
    <p:sldId id="636" r:id="rId2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18006E"/>
    <a:srgbClr val="00FDFF"/>
    <a:srgbClr val="FF40FF"/>
    <a:srgbClr val="FF9300"/>
    <a:srgbClr val="8F9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63"/>
    <p:restoredTop sz="91214"/>
  </p:normalViewPr>
  <p:slideViewPr>
    <p:cSldViewPr snapToGrid="0">
      <p:cViewPr varScale="1">
        <p:scale>
          <a:sx n="157" d="100"/>
          <a:sy n="157" d="100"/>
        </p:scale>
        <p:origin x="168" y="2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Get atmosphere in the verbal 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6954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Introduce C/E, atmospheres get partially ionized, ionospheres, </a:t>
            </a:r>
            <a:r>
              <a:rPr lang="en-US" dirty="0" err="1"/>
              <a:t>etc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Quick sentence on draping/pileup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Introduce figure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Alfvén wing sentence (maybe omit)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92829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Introduce C/E, atmospheres get partially ionized, ionospheres, </a:t>
            </a:r>
            <a:r>
              <a:rPr lang="en-US" dirty="0" err="1"/>
              <a:t>etc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Quick sentence on draping/pileup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Introduce figure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Alfvén wing sentence (maybe omit)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0454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However, even today Europa’s subsurface stratification remains poorly constrained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Studies have applied various methods to obtain the depth/conductivity profile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Often the nature of Europa’s local environment is not considered, and the choice of inversion strategy is inspection or L-S  (e.g., Weber et al., 2022)</a:t>
            </a:r>
          </a:p>
        </p:txBody>
      </p:sp>
    </p:spTree>
    <p:extLst>
      <p:ext uri="{BB962C8B-B14F-4D97-AF65-F5344CB8AC3E}">
        <p14:creationId xmlns:p14="http://schemas.microsoft.com/office/powerpoint/2010/main" val="3330366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135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34531755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3993249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15027052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5228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29135577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1605398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325288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38870148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1405830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197750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3504627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35981510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27506242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148525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16749652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42381650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As the energetic ions impinge towards the moon’s interaction region, they experience a probability for undergoing charge exchange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If singly charged, the ion is subsequently neutralized</a:t>
            </a:r>
          </a:p>
        </p:txBody>
      </p:sp>
    </p:spTree>
    <p:extLst>
      <p:ext uri="{BB962C8B-B14F-4D97-AF65-F5344CB8AC3E}">
        <p14:creationId xmlns:p14="http://schemas.microsoft.com/office/powerpoint/2010/main" val="7014531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Char char="-"/>
              <a:tabLst/>
              <a:defRPr/>
            </a:pPr>
            <a:r>
              <a:rPr lang="en-US" sz="1100" b="1" u="sng" dirty="0"/>
              <a:t>Results</a:t>
            </a:r>
            <a:r>
              <a:rPr lang="en-US" sz="1100" b="1" dirty="0"/>
              <a:t>: </a:t>
            </a:r>
            <a:r>
              <a:rPr lang="en-US" sz="1100" dirty="0"/>
              <a:t>While Ganymede’s internal field controls its ENA morphology, draping creates a discernible effect at Europa, Ganymede, and Callisto</a:t>
            </a:r>
            <a:endParaRPr lang="en-US" sz="1100" b="1" u="sng" dirty="0"/>
          </a:p>
        </p:txBody>
      </p:sp>
    </p:spTree>
    <p:extLst>
      <p:ext uri="{BB962C8B-B14F-4D97-AF65-F5344CB8AC3E}">
        <p14:creationId xmlns:p14="http://schemas.microsoft.com/office/powerpoint/2010/main" val="16244594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Char char="-"/>
              <a:tabLst/>
              <a:defRPr/>
            </a:pPr>
            <a:r>
              <a:rPr lang="en-US" sz="1100" b="1" u="sng" dirty="0"/>
              <a:t>Results</a:t>
            </a:r>
            <a:r>
              <a:rPr lang="en-US" sz="1100" b="1" dirty="0"/>
              <a:t>: </a:t>
            </a:r>
            <a:r>
              <a:rPr lang="en-US" sz="1100" dirty="0"/>
              <a:t>While Ganymede’s internal field controls its ENA morphology, draping creates a discernible effect at Europa, Ganymede, and Callisto</a:t>
            </a:r>
            <a:endParaRPr lang="en-US" sz="1100" b="1" u="sng" dirty="0"/>
          </a:p>
        </p:txBody>
      </p:sp>
    </p:spTree>
    <p:extLst>
      <p:ext uri="{BB962C8B-B14F-4D97-AF65-F5344CB8AC3E}">
        <p14:creationId xmlns:p14="http://schemas.microsoft.com/office/powerpoint/2010/main" val="31094449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310d452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310d452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Tx/>
              <a:buChar char="-"/>
              <a:tabLst/>
              <a:defRPr/>
            </a:pPr>
            <a:r>
              <a:rPr lang="en-US" sz="1100" b="1" u="sng" dirty="0"/>
              <a:t>Results</a:t>
            </a:r>
            <a:r>
              <a:rPr lang="en-US" sz="1100" b="1" dirty="0"/>
              <a:t>: </a:t>
            </a:r>
            <a:r>
              <a:rPr lang="en-US" sz="1100" dirty="0"/>
              <a:t>While Ganymede’s internal field controls its ENA morphology, draping creates a discernible effect at Europa, Ganymede, and Callisto</a:t>
            </a:r>
            <a:endParaRPr lang="en-US" sz="1100" b="1" u="sng" dirty="0"/>
          </a:p>
        </p:txBody>
      </p:sp>
    </p:spTree>
    <p:extLst>
      <p:ext uri="{BB962C8B-B14F-4D97-AF65-F5344CB8AC3E}">
        <p14:creationId xmlns:p14="http://schemas.microsoft.com/office/powerpoint/2010/main" val="617628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lt1"/>
            </a:gs>
            <a:gs pos="90000">
              <a:schemeClr val="lt1"/>
            </a:gs>
            <a:gs pos="100000">
              <a:srgbClr val="FFFFFF">
                <a:alpha val="58823"/>
              </a:srgbClr>
            </a:gs>
          </a:gsLst>
          <a:lin ang="5400000" scaled="0"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835200"/>
          </a:xfrm>
          <a:prstGeom prst="round2SameRect">
            <a:avLst>
              <a:gd name="adj1" fmla="val 0"/>
              <a:gd name="adj2" fmla="val 0"/>
            </a:avLst>
          </a:prstGeom>
          <a:gradFill>
            <a:gsLst>
              <a:gs pos="0">
                <a:srgbClr val="EDB203">
                  <a:alpha val="56862"/>
                </a:srgbClr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0" y="4393181"/>
            <a:ext cx="9144000" cy="750300"/>
          </a:xfrm>
          <a:prstGeom prst="round2SameRect">
            <a:avLst>
              <a:gd name="adj1" fmla="val 0"/>
              <a:gd name="adj2" fmla="val 0"/>
            </a:avLst>
          </a:prstGeom>
          <a:gradFill>
            <a:gsLst>
              <a:gs pos="0">
                <a:srgbClr val="9EB9CD">
                  <a:alpha val="56862"/>
                </a:srgbClr>
              </a:gs>
              <a:gs pos="100000">
                <a:schemeClr val="l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457200" y="171452"/>
            <a:ext cx="7772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Arial"/>
              <a:buNone/>
              <a:defRPr sz="8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57200" y="3600450"/>
            <a:ext cx="6858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b="0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90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90"/>
                </a:solidFill>
              </a:defRPr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90"/>
                </a:solidFill>
              </a:defRPr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rgbClr val="888890"/>
                </a:solidFill>
              </a:defRPr>
            </a:lvl5pPr>
            <a:lvl6pPr lvl="5" algn="ctr"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90"/>
                </a:solidFill>
              </a:defRPr>
            </a:lvl6pPr>
            <a:lvl7pPr lvl="6" algn="ctr"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90"/>
                </a:solidFill>
              </a:defRPr>
            </a:lvl7pPr>
            <a:lvl8pPr lvl="7" algn="ctr"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90"/>
                </a:solidFill>
              </a:defRPr>
            </a:lvl8pPr>
            <a:lvl9pPr lvl="8" algn="ctr"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90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457200" y="1085853"/>
            <a:ext cx="7772400" cy="32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Arial"/>
              <a:buNone/>
              <a:defRPr sz="8800" b="0" cap="none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457200" y="171451"/>
            <a:ext cx="77724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 b="0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90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90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90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90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90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90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90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90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457199" y="114541"/>
            <a:ext cx="82455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1630680" y="1181101"/>
            <a:ext cx="32919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1pPr>
            <a:lvl2pPr marL="914400" lvl="1" indent="-381000" algn="l">
              <a:spcBef>
                <a:spcPts val="600"/>
              </a:spcBef>
              <a:spcAft>
                <a:spcPts val="0"/>
              </a:spcAft>
              <a:buSzPts val="2400"/>
              <a:buChar char="•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5090160" y="1181101"/>
            <a:ext cx="32919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1pPr>
            <a:lvl2pPr marL="914400" lvl="1" indent="-381000" algn="l">
              <a:spcBef>
                <a:spcPts val="600"/>
              </a:spcBef>
              <a:spcAft>
                <a:spcPts val="0"/>
              </a:spcAft>
              <a:buSzPts val="2400"/>
              <a:buChar char="•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457199" y="114541"/>
            <a:ext cx="82455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1627632" y="1179576"/>
            <a:ext cx="32919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1627632" y="1694525"/>
            <a:ext cx="32919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marL="914400" lvl="1" indent="-3556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5093208" y="1179576"/>
            <a:ext cx="32919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5093208" y="1694525"/>
            <a:ext cx="32919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marL="914400" lvl="1" indent="-3556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body" idx="1"/>
          </p:nvPr>
        </p:nvSpPr>
        <p:spPr>
          <a:xfrm>
            <a:off x="3575050" y="1200150"/>
            <a:ext cx="5111700" cy="3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marL="914400" lvl="1" indent="-406400" algn="l">
              <a:spcBef>
                <a:spcPts val="600"/>
              </a:spcBef>
              <a:spcAft>
                <a:spcPts val="0"/>
              </a:spcAft>
              <a:buSzPts val="2800"/>
              <a:buChar char="•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2"/>
          </p:nvPr>
        </p:nvSpPr>
        <p:spPr>
          <a:xfrm>
            <a:off x="457205" y="1200150"/>
            <a:ext cx="3008400" cy="3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Google Shape;57;p9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457199" y="114541"/>
            <a:ext cx="82455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/>
          <p:nvPr/>
        </p:nvSpPr>
        <p:spPr>
          <a:xfrm>
            <a:off x="9001124" y="3634740"/>
            <a:ext cx="142800" cy="150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-1" y="0"/>
            <a:ext cx="9000900" cy="36348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457200" y="4286250"/>
            <a:ext cx="8153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2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title"/>
          </p:nvPr>
        </p:nvSpPr>
        <p:spPr>
          <a:xfrm>
            <a:off x="457200" y="37147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9" name="Google Shape;69;p10"/>
          <p:cNvSpPr/>
          <p:nvPr/>
        </p:nvSpPr>
        <p:spPr>
          <a:xfrm>
            <a:off x="9001124" y="0"/>
            <a:ext cx="142800" cy="3634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>
            <a:spLocks noGrp="1"/>
          </p:cNvSpPr>
          <p:nvPr>
            <p:ph type="title"/>
          </p:nvPr>
        </p:nvSpPr>
        <p:spPr>
          <a:xfrm>
            <a:off x="457199" y="114541"/>
            <a:ext cx="82455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body" idx="1"/>
          </p:nvPr>
        </p:nvSpPr>
        <p:spPr>
          <a:xfrm rot="5400000">
            <a:off x="2605050" y="-1119150"/>
            <a:ext cx="3324300" cy="76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>
            <a:spLocks noGrp="1"/>
          </p:cNvSpPr>
          <p:nvPr>
            <p:ph type="title"/>
          </p:nvPr>
        </p:nvSpPr>
        <p:spPr>
          <a:xfrm rot="5400000">
            <a:off x="5463750" y="1371630"/>
            <a:ext cx="43887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body" idx="1"/>
          </p:nvPr>
        </p:nvSpPr>
        <p:spPr>
          <a:xfrm rot="5400000">
            <a:off x="1272750" y="-609570"/>
            <a:ext cx="43887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Google Shape;79;p12"/>
          <p:cNvSpPr txBox="1">
            <a:spLocks noGrp="1"/>
          </p:cNvSpPr>
          <p:nvPr>
            <p:ph type="dt" idx="10"/>
          </p:nvPr>
        </p:nvSpPr>
        <p:spPr>
          <a:xfrm>
            <a:off x="457200" y="4629151"/>
            <a:ext cx="3429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ftr" idx="11"/>
          </p:nvPr>
        </p:nvSpPr>
        <p:spPr>
          <a:xfrm>
            <a:off x="457200" y="4869657"/>
            <a:ext cx="34290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C. Michael Haynes (mhaynes@eas.gatech.edu)</a:t>
            </a:r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1pPr>
            <a:lvl2pPr marL="914400" lvl="1" indent="-355600" rtl="0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marL="1371600" lvl="2" indent="-342900" rtl="0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30200" rtl="0">
              <a:spcBef>
                <a:spcPts val="320"/>
              </a:spcBef>
              <a:spcAft>
                <a:spcPts val="0"/>
              </a:spcAft>
              <a:buSzPts val="1600"/>
              <a:buChar char="•"/>
              <a:defRPr/>
            </a:lvl6pPr>
            <a:lvl7pPr marL="3200400" lvl="6" indent="-330200" rtl="0">
              <a:spcBef>
                <a:spcPts val="320"/>
              </a:spcBef>
              <a:spcAft>
                <a:spcPts val="0"/>
              </a:spcAft>
              <a:buSzPts val="1600"/>
              <a:buChar char="•"/>
              <a:defRPr/>
            </a:lvl7pPr>
            <a:lvl8pPr marL="3657600" lvl="7" indent="-330200" rtl="0">
              <a:spcBef>
                <a:spcPts val="320"/>
              </a:spcBef>
              <a:spcAft>
                <a:spcPts val="0"/>
              </a:spcAft>
              <a:buSzPts val="1600"/>
              <a:buChar char="•"/>
              <a:defRPr/>
            </a:lvl8pPr>
            <a:lvl9pPr marL="4114800" lvl="8" indent="-330200" rtl="0">
              <a:spcBef>
                <a:spcPts val="32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lt1"/>
            </a:gs>
            <a:gs pos="90000">
              <a:schemeClr val="lt1"/>
            </a:gs>
            <a:gs pos="100000">
              <a:srgbClr val="EDB203">
                <a:alpha val="58823"/>
              </a:srgbClr>
            </a:gs>
          </a:gsLst>
          <a:lin ang="5400000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199" y="114541"/>
            <a:ext cx="82455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028700"/>
            <a:ext cx="7620000" cy="33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 rot="-5400000">
            <a:off x="8391880" y="4368543"/>
            <a:ext cx="986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5" r:id="rId5"/>
    <p:sldLayoutId id="2147483656" r:id="rId6"/>
    <p:sldLayoutId id="2147483657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11" Type="http://schemas.openxmlformats.org/officeDocument/2006/relationships/image" Target="../media/image7.jpeg"/><Relationship Id="rId10" Type="http://schemas.openxmlformats.org/officeDocument/2006/relationships/image" Target="../media/image6.jpe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9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.gif"/><Relationship Id="rId5" Type="http://schemas.openxmlformats.org/officeDocument/2006/relationships/image" Target="../media/image5.png"/><Relationship Id="rId10" Type="http://schemas.openxmlformats.org/officeDocument/2006/relationships/image" Target="../media/image13.jpeg"/><Relationship Id="rId4" Type="http://schemas.openxmlformats.org/officeDocument/2006/relationships/image" Target="../media/image4.png"/><Relationship Id="rId9" Type="http://schemas.openxmlformats.org/officeDocument/2006/relationships/image" Target="../media/image1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4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3.png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3.png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3.png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3.png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4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7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9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>
            <a:spLocks noGrp="1"/>
          </p:cNvSpPr>
          <p:nvPr>
            <p:ph type="subTitle" idx="1"/>
          </p:nvPr>
        </p:nvSpPr>
        <p:spPr>
          <a:xfrm>
            <a:off x="1143000" y="2728209"/>
            <a:ext cx="6858000" cy="685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en" sz="3900" u="sng" dirty="0"/>
              <a:t>C. Michael Haynes</a:t>
            </a:r>
          </a:p>
          <a:p>
            <a:pPr marL="0" lvl="0" indent="0" algn="ctr" rtl="0">
              <a:spcBef>
                <a:spcPts val="400"/>
              </a:spcBef>
              <a:spcAft>
                <a:spcPts val="600"/>
              </a:spcAft>
              <a:buNone/>
            </a:pPr>
            <a:endParaRPr sz="1600" dirty="0"/>
          </a:p>
        </p:txBody>
      </p:sp>
      <p:pic>
        <p:nvPicPr>
          <p:cNvPr id="92" name="Google Shape;92;p14" descr="MOSSLogo (1)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7" y="3519875"/>
            <a:ext cx="1987500" cy="1507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88719" y="4114374"/>
            <a:ext cx="3966561" cy="913252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NASA_logo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55872" y="3556401"/>
            <a:ext cx="1777905" cy="1471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88;p7">
            <a:extLst>
              <a:ext uri="{FF2B5EF4-FFF2-40B4-BE49-F238E27FC236}">
                <a16:creationId xmlns:a16="http://schemas.microsoft.com/office/drawing/2014/main" id="{E4E63909-1EB5-3982-E7C2-BC22CA0E7C15}"/>
              </a:ext>
            </a:extLst>
          </p:cNvPr>
          <p:cNvSpPr/>
          <p:nvPr/>
        </p:nvSpPr>
        <p:spPr>
          <a:xfrm>
            <a:off x="3393715" y="62755"/>
            <a:ext cx="2758241" cy="30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7ED8D-617B-B0D1-C6A7-DFFE5F94E711}"/>
              </a:ext>
            </a:extLst>
          </p:cNvPr>
          <p:cNvSpPr txBox="1"/>
          <p:nvPr/>
        </p:nvSpPr>
        <p:spPr>
          <a:xfrm>
            <a:off x="3603284" y="3350598"/>
            <a:ext cx="2339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2"/>
                </a:solidFill>
              </a:rPr>
              <a:t>EAS 6134 Term Project</a:t>
            </a:r>
          </a:p>
        </p:txBody>
      </p:sp>
      <p:sp>
        <p:nvSpPr>
          <p:cNvPr id="6" name="Google Shape;90;p14">
            <a:extLst>
              <a:ext uri="{FF2B5EF4-FFF2-40B4-BE49-F238E27FC236}">
                <a16:creationId xmlns:a16="http://schemas.microsoft.com/office/drawing/2014/main" id="{B06CC8EE-B03C-8842-6DF4-CBA6C417B1C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152" y="-113907"/>
            <a:ext cx="8529696" cy="3429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000000"/>
                </a:solidFill>
                <a:effectLst/>
                <a:latin typeface="Helvetica" pitchFamily="2" charset="0"/>
              </a:rPr>
              <a:t>Towards a Constrained Understanding of </a:t>
            </a:r>
            <a:r>
              <a:rPr lang="en-US" sz="3200" b="1" dirty="0">
                <a:solidFill>
                  <a:srgbClr val="00B0F0"/>
                </a:solidFill>
                <a:effectLst/>
                <a:latin typeface="Helvetica" pitchFamily="2" charset="0"/>
              </a:rPr>
              <a:t>Europa’s Subsurface</a:t>
            </a:r>
            <a:r>
              <a:rPr lang="en-US" sz="3200" b="1" dirty="0">
                <a:solidFill>
                  <a:srgbClr val="000000"/>
                </a:solidFill>
                <a:effectLst/>
                <a:latin typeface="Helvetica" pitchFamily="2" charset="0"/>
              </a:rPr>
              <a:t> Driven by </a:t>
            </a:r>
            <a:r>
              <a:rPr lang="en-US" sz="3200" b="1" dirty="0">
                <a:solidFill>
                  <a:srgbClr val="00B0F0"/>
                </a:solidFill>
                <a:effectLst/>
                <a:latin typeface="Helvetica" pitchFamily="2" charset="0"/>
              </a:rPr>
              <a:t>Magnetic Induction Sounding</a:t>
            </a:r>
            <a:endParaRPr sz="32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8817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50817"/>
            <a:ext cx="548700" cy="39360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 dirty="0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A143E01-C442-4A81-DD59-580B6C15E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18007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Europa: Background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00F4B1-CEC7-8ADA-99AA-79798DF2947C}"/>
              </a:ext>
            </a:extLst>
          </p:cNvPr>
          <p:cNvSpPr txBox="1"/>
          <p:nvPr/>
        </p:nvSpPr>
        <p:spPr>
          <a:xfrm>
            <a:off x="0" y="3482372"/>
            <a:ext cx="7726807" cy="1287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Embedded in Jupiter’s magnetosphere</a:t>
            </a:r>
            <a:endParaRPr lang="en-US" sz="1800" u="sng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Target of the upcoming </a:t>
            </a:r>
            <a:r>
              <a:rPr lang="en-US" sz="1800" u="sng" dirty="0">
                <a:solidFill>
                  <a:schemeClr val="tx1"/>
                </a:solidFill>
                <a:latin typeface="+mn-lt"/>
                <a:sym typeface="Wingdings" pitchFamily="2" charset="2"/>
              </a:rPr>
              <a:t>JUICE</a:t>
            </a: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 and Europa Clipper missions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Possesses many habitable qualities (water, active geochemistry)</a:t>
            </a:r>
            <a:endParaRPr lang="en-US" sz="1800" dirty="0">
              <a:solidFill>
                <a:schemeClr val="tx1"/>
              </a:solidFill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75EB50-361B-BF25-7C30-3430FB803984}"/>
                  </a:ext>
                </a:extLst>
              </p:cNvPr>
              <p:cNvSpPr txBox="1"/>
              <p:nvPr/>
            </p:nvSpPr>
            <p:spPr>
              <a:xfrm>
                <a:off x="421902" y="727625"/>
                <a:ext cx="19834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F0"/>
                    </a:solidFill>
                  </a:rPr>
                  <a:t>Europa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=1561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km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75EB50-361B-BF25-7C30-3430FB803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02" y="727625"/>
                <a:ext cx="1983492" cy="307777"/>
              </a:xfrm>
              <a:prstGeom prst="rect">
                <a:avLst/>
              </a:prstGeom>
              <a:blipFill>
                <a:blip r:embed="rId7"/>
                <a:stretch>
                  <a:fillRect l="-1274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oogle Shape;102;p15">
            <a:extLst>
              <a:ext uri="{FF2B5EF4-FFF2-40B4-BE49-F238E27FC236}">
                <a16:creationId xmlns:a16="http://schemas.microsoft.com/office/drawing/2014/main" id="{1CF4EF9B-7698-E9A0-152F-963DE3FF9035}"/>
              </a:ext>
            </a:extLst>
          </p:cNvPr>
          <p:cNvSpPr txBox="1"/>
          <p:nvPr/>
        </p:nvSpPr>
        <p:spPr>
          <a:xfrm>
            <a:off x="8102096" y="3161620"/>
            <a:ext cx="2340880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NASA/JPL</a:t>
            </a:r>
          </a:p>
        </p:txBody>
      </p:sp>
      <p:pic>
        <p:nvPicPr>
          <p:cNvPr id="22" name="Google Shape;192;p7">
            <a:extLst>
              <a:ext uri="{FF2B5EF4-FFF2-40B4-BE49-F238E27FC236}">
                <a16:creationId xmlns:a16="http://schemas.microsoft.com/office/drawing/2014/main" id="{726E6087-E10D-B98A-A506-C05BB9F34C7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94;p7">
            <a:extLst>
              <a:ext uri="{FF2B5EF4-FFF2-40B4-BE49-F238E27FC236}">
                <a16:creationId xmlns:a16="http://schemas.microsoft.com/office/drawing/2014/main" id="{B2C5F1B4-D5E9-54A3-5ED3-BB633EEFDE09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88;p7">
            <a:extLst>
              <a:ext uri="{FF2B5EF4-FFF2-40B4-BE49-F238E27FC236}">
                <a16:creationId xmlns:a16="http://schemas.microsoft.com/office/drawing/2014/main" id="{E8C313AA-30EA-C225-3AEE-D4E696F6C047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26" name="Picture 2" descr="Model of Europa's Subsurface Structure | NASA Jet Propulsion Laboratory  (JPL)">
            <a:extLst>
              <a:ext uri="{FF2B5EF4-FFF2-40B4-BE49-F238E27FC236}">
                <a16:creationId xmlns:a16="http://schemas.microsoft.com/office/drawing/2014/main" id="{0069F369-6483-D2FB-E31C-6BBEA4F600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11700" y="1130649"/>
            <a:ext cx="3469237" cy="2241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B0197CA-4C95-D66E-6468-59EBD518F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770846"/>
            <a:ext cx="4571820" cy="3042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710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50817"/>
            <a:ext cx="548700" cy="39360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 dirty="0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A143E01-C442-4A81-DD59-580B6C15E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18007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Europa: Background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00F4B1-CEC7-8ADA-99AA-79798DF2947C}"/>
                  </a:ext>
                </a:extLst>
              </p:cNvPr>
              <p:cNvSpPr txBox="1"/>
              <p:nvPr/>
            </p:nvSpPr>
            <p:spPr>
              <a:xfrm>
                <a:off x="122843" y="3047850"/>
                <a:ext cx="7135208" cy="17029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Offset between Jupiter’s spin and rotation axes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 time-varying magnetospheric field </a:t>
                </a:r>
                <a14:m>
                  <m:oMath xmlns:m="http://schemas.openxmlformats.org/officeDocument/2006/math">
                    <m:r>
                      <a:rPr lang="en-US" sz="1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𝐁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at Europa’s orbit</a:t>
                </a:r>
                <a:endParaRPr lang="en-US" sz="1800" b="1" u="sng" dirty="0">
                  <a:solidFill>
                    <a:schemeClr val="tx1"/>
                  </a:solidFill>
                  <a:latin typeface="+mn-lt"/>
                  <a:sym typeface="Wingdings" pitchFamily="2" charset="2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Drives induction in conducting layers of the moon (salty water)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Led to the discovery of Europa’s ocean! (</a:t>
                </a:r>
                <a:r>
                  <a:rPr lang="en-US" sz="1800" dirty="0" err="1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Kivelson</a:t>
                </a: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et al., 2000)</a:t>
                </a:r>
                <a:endParaRPr lang="en-US" sz="1800" dirty="0">
                  <a:solidFill>
                    <a:schemeClr val="tx1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00F4B1-CEC7-8ADA-99AA-79798DF29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843" y="3047850"/>
                <a:ext cx="7135208" cy="1702967"/>
              </a:xfrm>
              <a:prstGeom prst="rect">
                <a:avLst/>
              </a:prstGeom>
              <a:blipFill>
                <a:blip r:embed="rId3"/>
                <a:stretch>
                  <a:fillRect l="-533" b="-5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Google Shape;192;p7">
            <a:extLst>
              <a:ext uri="{FF2B5EF4-FFF2-40B4-BE49-F238E27FC236}">
                <a16:creationId xmlns:a16="http://schemas.microsoft.com/office/drawing/2014/main" id="{726E6087-E10D-B98A-A506-C05BB9F34C7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94;p7">
            <a:extLst>
              <a:ext uri="{FF2B5EF4-FFF2-40B4-BE49-F238E27FC236}">
                <a16:creationId xmlns:a16="http://schemas.microsoft.com/office/drawing/2014/main" id="{B2C5F1B4-D5E9-54A3-5ED3-BB633EEFDE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88;p7">
            <a:extLst>
              <a:ext uri="{FF2B5EF4-FFF2-40B4-BE49-F238E27FC236}">
                <a16:creationId xmlns:a16="http://schemas.microsoft.com/office/drawing/2014/main" id="{E8C313AA-30EA-C225-3AEE-D4E696F6C047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CD57E9-A3AE-6AED-3BCC-3548AAA278B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087" t="23497" b="13827"/>
          <a:stretch/>
        </p:blipFill>
        <p:spPr>
          <a:xfrm>
            <a:off x="1805319" y="943826"/>
            <a:ext cx="5238439" cy="21040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8D96AF-F075-FA08-0631-9C4655AB0F67}"/>
              </a:ext>
            </a:extLst>
          </p:cNvPr>
          <p:cNvSpPr txBox="1"/>
          <p:nvPr/>
        </p:nvSpPr>
        <p:spPr>
          <a:xfrm>
            <a:off x="-2727" y="746172"/>
            <a:ext cx="2029651" cy="923330"/>
          </a:xfrm>
          <a:prstGeom prst="rect">
            <a:avLst/>
          </a:prstGeom>
          <a:solidFill>
            <a:schemeClr val="bg1"/>
          </a:solidFill>
          <a:ln w="19050">
            <a:noFill/>
            <a:prstDash val="lgDash"/>
          </a:ln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7030A0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M: Magnetic Axis</a:t>
            </a:r>
          </a:p>
          <a:p>
            <a:r>
              <a:rPr lang="en-US" sz="1800" b="1" dirty="0">
                <a:solidFill>
                  <a:schemeClr val="accent2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Ω: Rotation Axis</a:t>
            </a:r>
          </a:p>
          <a:p>
            <a:r>
              <a:rPr lang="en-US" sz="1800" b="1" dirty="0">
                <a:solidFill>
                  <a:srgbClr val="00B050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    Plasma Sheet </a:t>
            </a:r>
          </a:p>
        </p:txBody>
      </p:sp>
      <p:pic>
        <p:nvPicPr>
          <p:cNvPr id="13" name="Picture 12" descr="A white round object with brown veins&#10;&#10;Description automatically generated">
            <a:extLst>
              <a:ext uri="{FF2B5EF4-FFF2-40B4-BE49-F238E27FC236}">
                <a16:creationId xmlns:a16="http://schemas.microsoft.com/office/drawing/2014/main" id="{279FFDC8-C8A8-AFBA-8A73-32FDB630988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05050" y="1730443"/>
            <a:ext cx="328591" cy="330059"/>
          </a:xfrm>
          <a:prstGeom prst="rect">
            <a:avLst/>
          </a:prstGeom>
        </p:spPr>
      </p:pic>
      <p:pic>
        <p:nvPicPr>
          <p:cNvPr id="2050" name="Picture 2" descr="Garrett PD6500i Walk Through Metal Detector">
            <a:extLst>
              <a:ext uri="{FF2B5EF4-FFF2-40B4-BE49-F238E27FC236}">
                <a16:creationId xmlns:a16="http://schemas.microsoft.com/office/drawing/2014/main" id="{366C89BC-8DE2-EFDD-E4F4-11C6D80CA9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3211" y="1066203"/>
            <a:ext cx="139065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DBDEAB-91CF-C8D4-4B7B-FAE718F304C8}"/>
              </a:ext>
            </a:extLst>
          </p:cNvPr>
          <p:cNvSpPr txBox="1"/>
          <p:nvPr/>
        </p:nvSpPr>
        <p:spPr>
          <a:xfrm>
            <a:off x="7600926" y="695146"/>
            <a:ext cx="88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Analogs:</a:t>
            </a:r>
          </a:p>
        </p:txBody>
      </p:sp>
      <p:pic>
        <p:nvPicPr>
          <p:cNvPr id="2052" name="Picture 4" descr="Wireless Phone Charger – Phone Loops">
            <a:extLst>
              <a:ext uri="{FF2B5EF4-FFF2-40B4-BE49-F238E27FC236}">
                <a16:creationId xmlns:a16="http://schemas.microsoft.com/office/drawing/2014/main" id="{40528BD6-7F23-45DD-4B97-C2AEB20A7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2946" y="2398567"/>
            <a:ext cx="1077098" cy="735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Flow microphone – Spring Sale – Soundbrenner">
            <a:extLst>
              <a:ext uri="{FF2B5EF4-FFF2-40B4-BE49-F238E27FC236}">
                <a16:creationId xmlns:a16="http://schemas.microsoft.com/office/drawing/2014/main" id="{282D4BE9-6AE2-5B17-39E7-2C61A2488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7632" y="3213918"/>
            <a:ext cx="8477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9073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Science Question: Where Is the Ocean?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9" name="Picture 18" descr="A graph of a number of data&#10;&#10;Description automatically generated with medium confidence">
            <a:extLst>
              <a:ext uri="{FF2B5EF4-FFF2-40B4-BE49-F238E27FC236}">
                <a16:creationId xmlns:a16="http://schemas.microsoft.com/office/drawing/2014/main" id="{6B4B2345-5145-A035-E37B-448639A53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103" y="968929"/>
            <a:ext cx="4074811" cy="3205642"/>
          </a:xfrm>
          <a:prstGeom prst="rect">
            <a:avLst/>
          </a:prstGeom>
        </p:spPr>
      </p:pic>
      <p:pic>
        <p:nvPicPr>
          <p:cNvPr id="21" name="Picture 20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8BEB5907-5A36-1A4F-2441-F62E985A89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836" y="1042249"/>
            <a:ext cx="4183763" cy="3330564"/>
          </a:xfrm>
          <a:prstGeom prst="rect">
            <a:avLst/>
          </a:prstGeom>
        </p:spPr>
      </p:pic>
      <p:sp>
        <p:nvSpPr>
          <p:cNvPr id="22" name="Google Shape;102;p15">
            <a:extLst>
              <a:ext uri="{FF2B5EF4-FFF2-40B4-BE49-F238E27FC236}">
                <a16:creationId xmlns:a16="http://schemas.microsoft.com/office/drawing/2014/main" id="{79DD86C4-8B22-7AFC-BA5E-031246C6BB90}"/>
              </a:ext>
            </a:extLst>
          </p:cNvPr>
          <p:cNvSpPr txBox="1"/>
          <p:nvPr/>
        </p:nvSpPr>
        <p:spPr>
          <a:xfrm>
            <a:off x="3929057" y="4174571"/>
            <a:ext cx="2340880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Zimmer et al. (2000)</a:t>
            </a:r>
          </a:p>
        </p:txBody>
      </p:sp>
    </p:spTree>
    <p:extLst>
      <p:ext uri="{BB962C8B-B14F-4D97-AF65-F5344CB8AC3E}">
        <p14:creationId xmlns:p14="http://schemas.microsoft.com/office/powerpoint/2010/main" val="414194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Strategy: Model Assumptions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48788" y="745845"/>
            <a:ext cx="89723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However, even today Europa’s subsurface stratification remains poorly constrained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Studies have applied various methods to obtain the depth/conductivity profile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Often the nature of Europa’s local environment is not considered, and the choice of inversion strategy is inspection or L-S  (e.g., Weber et al., 2022)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B3B0E6-40C9-278D-B557-17AA231AFF08}"/>
              </a:ext>
            </a:extLst>
          </p:cNvPr>
          <p:cNvSpPr txBox="1"/>
          <p:nvPr/>
        </p:nvSpPr>
        <p:spPr>
          <a:xfrm>
            <a:off x="571501" y="2585794"/>
            <a:ext cx="7900957" cy="206210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F0"/>
                </a:solidFill>
              </a:rPr>
              <a:t>Our goal: tighter constraints on Europa’s subsurface conductivity profile</a:t>
            </a:r>
          </a:p>
          <a:p>
            <a:pPr algn="ctr"/>
            <a:endParaRPr lang="en-US" sz="800" b="1" dirty="0">
              <a:solidFill>
                <a:srgbClr val="00B0F0"/>
              </a:solidFill>
            </a:endParaRPr>
          </a:p>
          <a:p>
            <a:r>
              <a:rPr lang="en-US" sz="1800" dirty="0"/>
              <a:t>To do so, we use magnetometer data from Europa’s environment, and:</a:t>
            </a:r>
          </a:p>
          <a:p>
            <a:r>
              <a:rPr lang="en-US" sz="1800" dirty="0"/>
              <a:t>	- more robust inversions (</a:t>
            </a:r>
            <a:r>
              <a:rPr lang="en-US" sz="1800" dirty="0">
                <a:solidFill>
                  <a:srgbClr val="00B0F0"/>
                </a:solidFill>
              </a:rPr>
              <a:t>truncated SVD, nonlinear methods</a:t>
            </a:r>
            <a:r>
              <a:rPr lang="en-US" sz="1800" dirty="0"/>
              <a:t>)</a:t>
            </a:r>
          </a:p>
          <a:p>
            <a:r>
              <a:rPr lang="en-US" sz="1800" dirty="0"/>
              <a:t>	- highly selective pre-processing data analysis routine (</a:t>
            </a:r>
            <a:r>
              <a:rPr lang="en-US" sz="1800" dirty="0">
                <a:solidFill>
                  <a:srgbClr val="00B0F0"/>
                </a:solidFill>
              </a:rPr>
              <a:t>background 	prevention &amp; subtraction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63211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Forward Operator: Induction Physics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179971" y="917085"/>
            <a:ext cx="6668504" cy="1010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Dominant harmonic: </a:t>
            </a:r>
            <a:r>
              <a:rPr lang="en-US" sz="1800" dirty="0">
                <a:solidFill>
                  <a:srgbClr val="00B0F0"/>
                </a:solidFill>
                <a:latin typeface="+mn-lt"/>
                <a:sym typeface="Wingdings" pitchFamily="2" charset="2"/>
              </a:rPr>
              <a:t>synodic rotation period of Jupiter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Induction described by:</a:t>
            </a:r>
          </a:p>
        </p:txBody>
      </p:sp>
      <p:sp>
        <p:nvSpPr>
          <p:cNvPr id="6" name="Google Shape;102;p15">
            <a:extLst>
              <a:ext uri="{FF2B5EF4-FFF2-40B4-BE49-F238E27FC236}">
                <a16:creationId xmlns:a16="http://schemas.microsoft.com/office/drawing/2014/main" id="{1BDC435D-8FD3-4438-8E8F-6508E8166F47}"/>
              </a:ext>
            </a:extLst>
          </p:cNvPr>
          <p:cNvSpPr txBox="1"/>
          <p:nvPr/>
        </p:nvSpPr>
        <p:spPr>
          <a:xfrm>
            <a:off x="7973380" y="2867334"/>
            <a:ext cx="2340880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Vance et al. (2021)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8A1DC1-CE2B-F9B6-5FBC-A4420DA9FCB0}"/>
              </a:ext>
            </a:extLst>
          </p:cNvPr>
          <p:cNvSpPr txBox="1"/>
          <p:nvPr/>
        </p:nvSpPr>
        <p:spPr>
          <a:xfrm>
            <a:off x="164078" y="2025761"/>
            <a:ext cx="8841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 spherical harmonic decomposition assuming spherical symmetry isotropic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For a prescribed subsurface conductivity profile, the inductive response is: </a:t>
            </a:r>
          </a:p>
        </p:txBody>
      </p:sp>
      <p:pic>
        <p:nvPicPr>
          <p:cNvPr id="13" name="Picture 12" descr="A close up of a number&#10;&#10;Description automatically generated">
            <a:extLst>
              <a:ext uri="{FF2B5EF4-FFF2-40B4-BE49-F238E27FC236}">
                <a16:creationId xmlns:a16="http://schemas.microsoft.com/office/drawing/2014/main" id="{3CC7BBF0-E330-963B-46B3-D2836C8C0F5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8669" b="26399"/>
          <a:stretch/>
        </p:blipFill>
        <p:spPr>
          <a:xfrm>
            <a:off x="3208766" y="1532326"/>
            <a:ext cx="5153036" cy="3776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FD514B-2FF5-1FB6-8849-630D03E2BAA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8592" b="23425"/>
          <a:stretch/>
        </p:blipFill>
        <p:spPr>
          <a:xfrm>
            <a:off x="1116434" y="2787917"/>
            <a:ext cx="6744848" cy="54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113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Forward Operator: Induction Physics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179971" y="917085"/>
            <a:ext cx="6668504" cy="1010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Dominant harmonic: </a:t>
            </a:r>
            <a:r>
              <a:rPr lang="en-US" sz="1800" dirty="0">
                <a:solidFill>
                  <a:srgbClr val="00B0F0"/>
                </a:solidFill>
                <a:latin typeface="+mn-lt"/>
                <a:sym typeface="Wingdings" pitchFamily="2" charset="2"/>
              </a:rPr>
              <a:t>synodic rotation period of Jupiter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Induction described by:</a:t>
            </a:r>
          </a:p>
        </p:txBody>
      </p:sp>
      <p:sp>
        <p:nvSpPr>
          <p:cNvPr id="6" name="Google Shape;102;p15">
            <a:extLst>
              <a:ext uri="{FF2B5EF4-FFF2-40B4-BE49-F238E27FC236}">
                <a16:creationId xmlns:a16="http://schemas.microsoft.com/office/drawing/2014/main" id="{1BDC435D-8FD3-4438-8E8F-6508E8166F47}"/>
              </a:ext>
            </a:extLst>
          </p:cNvPr>
          <p:cNvSpPr txBox="1"/>
          <p:nvPr/>
        </p:nvSpPr>
        <p:spPr>
          <a:xfrm>
            <a:off x="7973380" y="2867334"/>
            <a:ext cx="2340880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Vance et al. (2021)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8A1DC1-CE2B-F9B6-5FBC-A4420DA9FCB0}"/>
              </a:ext>
            </a:extLst>
          </p:cNvPr>
          <p:cNvSpPr txBox="1"/>
          <p:nvPr/>
        </p:nvSpPr>
        <p:spPr>
          <a:xfrm>
            <a:off x="164078" y="2025761"/>
            <a:ext cx="8841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 spherical harmonic decomposition assuming spherical symmetry isotropic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For a prescribed subsurface conductivity profile, the inductive response is: </a:t>
            </a:r>
          </a:p>
        </p:txBody>
      </p:sp>
      <p:pic>
        <p:nvPicPr>
          <p:cNvPr id="13" name="Picture 12" descr="A close up of a number&#10;&#10;Description automatically generated">
            <a:extLst>
              <a:ext uri="{FF2B5EF4-FFF2-40B4-BE49-F238E27FC236}">
                <a16:creationId xmlns:a16="http://schemas.microsoft.com/office/drawing/2014/main" id="{3CC7BBF0-E330-963B-46B3-D2836C8C0F5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8669" b="26399"/>
          <a:stretch/>
        </p:blipFill>
        <p:spPr>
          <a:xfrm>
            <a:off x="3208766" y="1532326"/>
            <a:ext cx="5153036" cy="3776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FD514B-2FF5-1FB6-8849-630D03E2BAA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8592" b="23425"/>
          <a:stretch/>
        </p:blipFill>
        <p:spPr>
          <a:xfrm>
            <a:off x="1116434" y="2787917"/>
            <a:ext cx="6744848" cy="540259"/>
          </a:xfrm>
          <a:prstGeom prst="rect">
            <a:avLst/>
          </a:prstGeom>
        </p:spPr>
      </p:pic>
      <p:pic>
        <p:nvPicPr>
          <p:cNvPr id="4" name="Picture 3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B47D96D3-ADD8-4E86-2B1E-6C4E245CDC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738" y="3375721"/>
            <a:ext cx="5229225" cy="1030098"/>
          </a:xfrm>
          <a:prstGeom prst="rect">
            <a:avLst/>
          </a:prstGeom>
          <a:ln w="19050">
            <a:solidFill>
              <a:schemeClr val="accent3"/>
            </a:solidFill>
          </a:ln>
        </p:spPr>
      </p:pic>
    </p:spTree>
    <p:extLst>
      <p:ext uri="{BB962C8B-B14F-4D97-AF65-F5344CB8AC3E}">
        <p14:creationId xmlns:p14="http://schemas.microsoft.com/office/powerpoint/2010/main" val="2666301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Forward Operator: Induction Physics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" name="Picture 7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F1C6E784-2D2F-87C3-572E-87B01EBBE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8688" y="751845"/>
            <a:ext cx="5229225" cy="1030098"/>
          </a:xfrm>
          <a:prstGeom prst="rect">
            <a:avLst/>
          </a:prstGeom>
        </p:spPr>
      </p:pic>
      <p:pic>
        <p:nvPicPr>
          <p:cNvPr id="27" name="Picture 2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BD578B3-94E7-9AFD-F818-3AECBD5684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539" y="1728122"/>
            <a:ext cx="4880961" cy="897437"/>
          </a:xfrm>
          <a:prstGeom prst="rect">
            <a:avLst/>
          </a:prstGeom>
        </p:spPr>
      </p:pic>
      <p:pic>
        <p:nvPicPr>
          <p:cNvPr id="28" name="Picture 27" descr="A mathematical equation with numbers and symbols&#10;&#10;Description automatically generated">
            <a:extLst>
              <a:ext uri="{FF2B5EF4-FFF2-40B4-BE49-F238E27FC236}">
                <a16:creationId xmlns:a16="http://schemas.microsoft.com/office/drawing/2014/main" id="{3D8D3216-47D2-F237-B928-E0824FC725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700" y="2703829"/>
            <a:ext cx="4020700" cy="1017952"/>
          </a:xfrm>
          <a:prstGeom prst="rect">
            <a:avLst/>
          </a:prstGeom>
        </p:spPr>
      </p:pic>
      <p:pic>
        <p:nvPicPr>
          <p:cNvPr id="29" name="Picture 2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25DD5234-C220-0ED7-109C-E6F494F99A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00" y="3721781"/>
            <a:ext cx="4575775" cy="8712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8D7358-FB89-9AC2-EDE2-C98BD260262A}"/>
              </a:ext>
            </a:extLst>
          </p:cNvPr>
          <p:cNvSpPr txBox="1"/>
          <p:nvPr/>
        </p:nvSpPr>
        <p:spPr>
          <a:xfrm>
            <a:off x="4887475" y="3788065"/>
            <a:ext cx="21616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complex wavenumber dependent on conductivity value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34B3AF-1CBD-0EF3-CC90-F6B917FC8EC7}"/>
              </a:ext>
            </a:extLst>
          </p:cNvPr>
          <p:cNvSpPr txBox="1"/>
          <p:nvPr/>
        </p:nvSpPr>
        <p:spPr>
          <a:xfrm>
            <a:off x="4833119" y="2970093"/>
            <a:ext cx="2270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coefficient dependent on ocean depth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2E7D2-995A-0ECD-24D2-F67DE0FC13FC}"/>
              </a:ext>
            </a:extLst>
          </p:cNvPr>
          <p:cNvSpPr txBox="1"/>
          <p:nvPr/>
        </p:nvSpPr>
        <p:spPr>
          <a:xfrm>
            <a:off x="4833118" y="1922701"/>
            <a:ext cx="2270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Amplitude, phase lag dependence</a:t>
            </a:r>
          </a:p>
        </p:txBody>
      </p:sp>
    </p:spTree>
    <p:extLst>
      <p:ext uri="{BB962C8B-B14F-4D97-AF65-F5344CB8AC3E}">
        <p14:creationId xmlns:p14="http://schemas.microsoft.com/office/powerpoint/2010/main" val="1002008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Strategy: Model Assumptions &amp; Discretization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235D1B-C49F-0A71-03BA-D7F022CFB901}"/>
                  </a:ext>
                </a:extLst>
              </p:cNvPr>
              <p:cNvSpPr txBox="1"/>
              <p:nvPr/>
            </p:nvSpPr>
            <p:spPr>
              <a:xfrm>
                <a:off x="151406" y="2051220"/>
                <a:ext cx="8841188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itchFamily="2" charset="2"/>
                  <a:buChar char="è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𝜙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are </a:t>
                </a:r>
                <a:r>
                  <a:rPr lang="en-US" sz="1800" dirty="0">
                    <a:solidFill>
                      <a:srgbClr val="00B0F0"/>
                    </a:solidFill>
                    <a:latin typeface="+mn-lt"/>
                    <a:sym typeface="Wingdings" pitchFamily="2" charset="2"/>
                  </a:rPr>
                  <a:t>amplitude</a:t>
                </a: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and </a:t>
                </a:r>
                <a:r>
                  <a:rPr lang="en-US" sz="1800" dirty="0">
                    <a:solidFill>
                      <a:srgbClr val="00B0F0"/>
                    </a:solidFill>
                    <a:latin typeface="+mn-lt"/>
                    <a:sym typeface="Wingdings" pitchFamily="2" charset="2"/>
                  </a:rPr>
                  <a:t>phase lag</a:t>
                </a: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of induced field signal</a:t>
                </a:r>
              </a:p>
              <a:p>
                <a:pPr marL="285750" indent="-285750">
                  <a:buFont typeface="Wingdings" pitchFamily="2" charset="2"/>
                  <a:buChar char="è"/>
                </a:pPr>
                <a:endParaRPr lang="en-US" sz="1800" dirty="0">
                  <a:solidFill>
                    <a:schemeClr val="tx1"/>
                  </a:solidFill>
                  <a:latin typeface="+mn-lt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è"/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Assume that Europa’s subsurface is </a:t>
                </a:r>
                <a:r>
                  <a:rPr lang="en-US" sz="1800" dirty="0">
                    <a:solidFill>
                      <a:srgbClr val="00B0F0"/>
                    </a:solidFill>
                    <a:latin typeface="+mn-lt"/>
                    <a:sym typeface="Wingdings" pitchFamily="2" charset="2"/>
                  </a:rPr>
                  <a:t>discretized into 3 layers</a:t>
                </a: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:</a:t>
                </a:r>
              </a:p>
              <a:p>
                <a:pPr lvl="4"/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		 </a:t>
                </a:r>
                <a:r>
                  <a:rPr lang="en-US" sz="1800" u="sng" dirty="0">
                    <a:solidFill>
                      <a:srgbClr val="00B0F0"/>
                    </a:solidFill>
                    <a:latin typeface="+mn-lt"/>
                    <a:sym typeface="Wingdings" pitchFamily="2" charset="2"/>
                  </a:rPr>
                  <a:t>Uniform conductivity!</a:t>
                </a:r>
              </a:p>
              <a:p>
                <a:pPr marL="285750" indent="-285750">
                  <a:buFont typeface="Wingdings" pitchFamily="2" charset="2"/>
                  <a:buChar char="è"/>
                </a:pPr>
                <a:endParaRPr lang="en-US" sz="1800" dirty="0">
                  <a:solidFill>
                    <a:schemeClr val="tx1"/>
                  </a:solidFill>
                  <a:latin typeface="+mn-lt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è"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𝜙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dependent on subsurface ocean thickness, depth, </a:t>
                </a:r>
                <a14:m>
                  <m:oMath xmlns:m="http://schemas.openxmlformats.org/officeDocument/2006/math">
                    <m:r>
                      <a:rPr lang="en-US" sz="1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𝜎</m:t>
                    </m:r>
                  </m:oMath>
                </a14:m>
                <a:endParaRPr lang="en-US" sz="1800" dirty="0">
                  <a:solidFill>
                    <a:schemeClr val="tx1"/>
                  </a:solidFill>
                  <a:latin typeface="+mn-lt"/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235D1B-C49F-0A71-03BA-D7F022CFB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06" y="2051220"/>
                <a:ext cx="8841188" cy="1754326"/>
              </a:xfrm>
              <a:prstGeom prst="rect">
                <a:avLst/>
              </a:prstGeom>
              <a:blipFill>
                <a:blip r:embed="rId5"/>
                <a:stretch>
                  <a:fillRect l="-431" t="-1439" b="-5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diagram of a circle with arrows and a piece of pie&#10;&#10;Description automatically generated">
            <a:extLst>
              <a:ext uri="{FF2B5EF4-FFF2-40B4-BE49-F238E27FC236}">
                <a16:creationId xmlns:a16="http://schemas.microsoft.com/office/drawing/2014/main" id="{4965C6A7-E41E-E806-A366-CFC4E3770D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1267" y="2269854"/>
            <a:ext cx="2234188" cy="2134336"/>
          </a:xfrm>
          <a:prstGeom prst="rect">
            <a:avLst/>
          </a:prstGeom>
        </p:spPr>
      </p:pic>
      <p:sp>
        <p:nvSpPr>
          <p:cNvPr id="13" name="Google Shape;102;p15">
            <a:extLst>
              <a:ext uri="{FF2B5EF4-FFF2-40B4-BE49-F238E27FC236}">
                <a16:creationId xmlns:a16="http://schemas.microsoft.com/office/drawing/2014/main" id="{2A3C42FF-71B4-0101-1BAD-462D874435D3}"/>
              </a:ext>
            </a:extLst>
          </p:cNvPr>
          <p:cNvSpPr txBox="1"/>
          <p:nvPr/>
        </p:nvSpPr>
        <p:spPr>
          <a:xfrm>
            <a:off x="7396582" y="1946719"/>
            <a:ext cx="1280693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(Zimmer et al., 2000)</a:t>
            </a:r>
          </a:p>
        </p:txBody>
      </p:sp>
      <p:pic>
        <p:nvPicPr>
          <p:cNvPr id="14" name="Picture 13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E2D26993-1CED-7DB7-B83F-2A9DD34D03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8688" y="751845"/>
            <a:ext cx="5229225" cy="103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120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Inversion Strategy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48788" y="745845"/>
            <a:ext cx="8972370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Our assumed model of Europa’s subsurface is:</a:t>
            </a: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</p:txBody>
      </p:sp>
      <p:pic>
        <p:nvPicPr>
          <p:cNvPr id="18" name="Picture 17" descr="A black and white symbol&#10;&#10;Description automatically generated">
            <a:extLst>
              <a:ext uri="{FF2B5EF4-FFF2-40B4-BE49-F238E27FC236}">
                <a16:creationId xmlns:a16="http://schemas.microsoft.com/office/drawing/2014/main" id="{96EB73E9-5BFB-E4F6-B442-C2B68AA7C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49" y="1202214"/>
            <a:ext cx="3525664" cy="718546"/>
          </a:xfrm>
          <a:prstGeom prst="rect">
            <a:avLst/>
          </a:prstGeom>
        </p:spPr>
      </p:pic>
      <p:pic>
        <p:nvPicPr>
          <p:cNvPr id="5" name="Picture 4" descr="A diagram of a circle with arrows and a piece of pie&#10;&#10;Description automatically generated">
            <a:extLst>
              <a:ext uri="{FF2B5EF4-FFF2-40B4-BE49-F238E27FC236}">
                <a16:creationId xmlns:a16="http://schemas.microsoft.com/office/drawing/2014/main" id="{6F1EEB2D-67F5-D17C-59BD-F1FB7C1D5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1267" y="2269854"/>
            <a:ext cx="2234188" cy="2134336"/>
          </a:xfrm>
          <a:prstGeom prst="rect">
            <a:avLst/>
          </a:prstGeom>
        </p:spPr>
      </p:pic>
      <p:sp>
        <p:nvSpPr>
          <p:cNvPr id="6" name="Google Shape;102;p15">
            <a:extLst>
              <a:ext uri="{FF2B5EF4-FFF2-40B4-BE49-F238E27FC236}">
                <a16:creationId xmlns:a16="http://schemas.microsoft.com/office/drawing/2014/main" id="{77C6C0DC-C01C-57F0-4E22-4881295C5137}"/>
              </a:ext>
            </a:extLst>
          </p:cNvPr>
          <p:cNvSpPr txBox="1"/>
          <p:nvPr/>
        </p:nvSpPr>
        <p:spPr>
          <a:xfrm>
            <a:off x="7396582" y="1946719"/>
            <a:ext cx="1280693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(Zimmer et al., 2000)</a:t>
            </a:r>
          </a:p>
        </p:txBody>
      </p:sp>
    </p:spTree>
    <p:extLst>
      <p:ext uri="{BB962C8B-B14F-4D97-AF65-F5344CB8AC3E}">
        <p14:creationId xmlns:p14="http://schemas.microsoft.com/office/powerpoint/2010/main" val="2314854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Inversion Strategy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48788" y="745845"/>
            <a:ext cx="8972370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Our assumed model of Europa’s subsurface is:</a:t>
            </a: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</p:txBody>
      </p:sp>
      <p:pic>
        <p:nvPicPr>
          <p:cNvPr id="18" name="Picture 17" descr="A black and white symbol&#10;&#10;Description automatically generated">
            <a:extLst>
              <a:ext uri="{FF2B5EF4-FFF2-40B4-BE49-F238E27FC236}">
                <a16:creationId xmlns:a16="http://schemas.microsoft.com/office/drawing/2014/main" id="{96EB73E9-5BFB-E4F6-B442-C2B68AA7C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49" y="1202214"/>
            <a:ext cx="3525664" cy="718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A41430-E85B-D70A-BECB-826BF7083BDC}"/>
              </a:ext>
            </a:extLst>
          </p:cNvPr>
          <p:cNvSpPr txBox="1"/>
          <p:nvPr/>
        </p:nvSpPr>
        <p:spPr>
          <a:xfrm>
            <a:off x="3629116" y="2673056"/>
            <a:ext cx="181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/>
                </a:solidFill>
              </a:rPr>
              <a:t>Inner radius</a:t>
            </a:r>
          </a:p>
        </p:txBody>
      </p:sp>
      <p:pic>
        <p:nvPicPr>
          <p:cNvPr id="5" name="Picture 4" descr="A diagram of a circle with arrows and a piece of pie&#10;&#10;Description automatically generated">
            <a:extLst>
              <a:ext uri="{FF2B5EF4-FFF2-40B4-BE49-F238E27FC236}">
                <a16:creationId xmlns:a16="http://schemas.microsoft.com/office/drawing/2014/main" id="{6F1EEB2D-67F5-D17C-59BD-F1FB7C1D5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1267" y="2269854"/>
            <a:ext cx="2234188" cy="2134336"/>
          </a:xfrm>
          <a:prstGeom prst="rect">
            <a:avLst/>
          </a:prstGeom>
        </p:spPr>
      </p:pic>
      <p:sp>
        <p:nvSpPr>
          <p:cNvPr id="6" name="Google Shape;102;p15">
            <a:extLst>
              <a:ext uri="{FF2B5EF4-FFF2-40B4-BE49-F238E27FC236}">
                <a16:creationId xmlns:a16="http://schemas.microsoft.com/office/drawing/2014/main" id="{77C6C0DC-C01C-57F0-4E22-4881295C5137}"/>
              </a:ext>
            </a:extLst>
          </p:cNvPr>
          <p:cNvSpPr txBox="1"/>
          <p:nvPr/>
        </p:nvSpPr>
        <p:spPr>
          <a:xfrm>
            <a:off x="7396582" y="1946719"/>
            <a:ext cx="1280693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(Zimmer et al., 2000)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0B1CB1-DFFA-F856-B49D-0D7861D0EF98}"/>
              </a:ext>
            </a:extLst>
          </p:cNvPr>
          <p:cNvSpPr/>
          <p:nvPr/>
        </p:nvSpPr>
        <p:spPr>
          <a:xfrm>
            <a:off x="4143122" y="1327094"/>
            <a:ext cx="493614" cy="493614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B63C1CE-56D0-47D9-404E-67FAD2256F80}"/>
              </a:ext>
            </a:extLst>
          </p:cNvPr>
          <p:cNvSpPr/>
          <p:nvPr/>
        </p:nvSpPr>
        <p:spPr>
          <a:xfrm>
            <a:off x="7540484" y="2967894"/>
            <a:ext cx="1069442" cy="1043873"/>
          </a:xfrm>
          <a:prstGeom prst="ellipse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Inversion Strategy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48788" y="745845"/>
            <a:ext cx="8972370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Our assumed model of Europa’s subsurface is:</a:t>
            </a: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</p:txBody>
      </p:sp>
      <p:pic>
        <p:nvPicPr>
          <p:cNvPr id="18" name="Picture 17" descr="A black and white symbol&#10;&#10;Description automatically generated">
            <a:extLst>
              <a:ext uri="{FF2B5EF4-FFF2-40B4-BE49-F238E27FC236}">
                <a16:creationId xmlns:a16="http://schemas.microsoft.com/office/drawing/2014/main" id="{96EB73E9-5BFB-E4F6-B442-C2B68AA7C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49" y="1202214"/>
            <a:ext cx="3525664" cy="718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A41430-E85B-D70A-BECB-826BF7083BDC}"/>
              </a:ext>
            </a:extLst>
          </p:cNvPr>
          <p:cNvSpPr txBox="1"/>
          <p:nvPr/>
        </p:nvSpPr>
        <p:spPr>
          <a:xfrm>
            <a:off x="4146323" y="2718997"/>
            <a:ext cx="1879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/>
                </a:solidFill>
              </a:rPr>
              <a:t>Outer radius</a:t>
            </a:r>
          </a:p>
        </p:txBody>
      </p:sp>
      <p:pic>
        <p:nvPicPr>
          <p:cNvPr id="5" name="Picture 4" descr="A diagram of a circle with arrows and a piece of pie&#10;&#10;Description automatically generated">
            <a:extLst>
              <a:ext uri="{FF2B5EF4-FFF2-40B4-BE49-F238E27FC236}">
                <a16:creationId xmlns:a16="http://schemas.microsoft.com/office/drawing/2014/main" id="{6F1EEB2D-67F5-D17C-59BD-F1FB7C1D5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1267" y="2269854"/>
            <a:ext cx="2234188" cy="2134336"/>
          </a:xfrm>
          <a:prstGeom prst="rect">
            <a:avLst/>
          </a:prstGeom>
        </p:spPr>
      </p:pic>
      <p:sp>
        <p:nvSpPr>
          <p:cNvPr id="6" name="Google Shape;102;p15">
            <a:extLst>
              <a:ext uri="{FF2B5EF4-FFF2-40B4-BE49-F238E27FC236}">
                <a16:creationId xmlns:a16="http://schemas.microsoft.com/office/drawing/2014/main" id="{77C6C0DC-C01C-57F0-4E22-4881295C5137}"/>
              </a:ext>
            </a:extLst>
          </p:cNvPr>
          <p:cNvSpPr txBox="1"/>
          <p:nvPr/>
        </p:nvSpPr>
        <p:spPr>
          <a:xfrm>
            <a:off x="7396582" y="1946719"/>
            <a:ext cx="1280693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(Zimmer et al., 2000)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0B1CB1-DFFA-F856-B49D-0D7861D0EF98}"/>
              </a:ext>
            </a:extLst>
          </p:cNvPr>
          <p:cNvSpPr/>
          <p:nvPr/>
        </p:nvSpPr>
        <p:spPr>
          <a:xfrm>
            <a:off x="4839037" y="1318545"/>
            <a:ext cx="493614" cy="493614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B63C1CE-56D0-47D9-404E-67FAD2256F80}"/>
              </a:ext>
            </a:extLst>
          </p:cNvPr>
          <p:cNvSpPr/>
          <p:nvPr/>
        </p:nvSpPr>
        <p:spPr>
          <a:xfrm>
            <a:off x="7331384" y="2718997"/>
            <a:ext cx="1500916" cy="1513455"/>
          </a:xfrm>
          <a:prstGeom prst="ellipse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233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Inversion Strategy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48788" y="745845"/>
            <a:ext cx="8972370" cy="87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Our assumed model of Europa’s subsurface is:</a:t>
            </a: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</p:txBody>
      </p:sp>
      <p:pic>
        <p:nvPicPr>
          <p:cNvPr id="18" name="Picture 17" descr="A black and white symbol&#10;&#10;Description automatically generated">
            <a:extLst>
              <a:ext uri="{FF2B5EF4-FFF2-40B4-BE49-F238E27FC236}">
                <a16:creationId xmlns:a16="http://schemas.microsoft.com/office/drawing/2014/main" id="{96EB73E9-5BFB-E4F6-B442-C2B68AA7C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49" y="1202214"/>
            <a:ext cx="3525664" cy="718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A41430-E85B-D70A-BECB-826BF7083BDC}"/>
              </a:ext>
            </a:extLst>
          </p:cNvPr>
          <p:cNvSpPr txBox="1"/>
          <p:nvPr/>
        </p:nvSpPr>
        <p:spPr>
          <a:xfrm>
            <a:off x="4839037" y="2991908"/>
            <a:ext cx="1863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/>
                </a:solidFill>
              </a:rPr>
              <a:t>Conductivity</a:t>
            </a:r>
          </a:p>
        </p:txBody>
      </p:sp>
      <p:pic>
        <p:nvPicPr>
          <p:cNvPr id="5" name="Picture 4" descr="A diagram of a circle with arrows and a piece of pie&#10;&#10;Description automatically generated">
            <a:extLst>
              <a:ext uri="{FF2B5EF4-FFF2-40B4-BE49-F238E27FC236}">
                <a16:creationId xmlns:a16="http://schemas.microsoft.com/office/drawing/2014/main" id="{6F1EEB2D-67F5-D17C-59BD-F1FB7C1D5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1267" y="2269854"/>
            <a:ext cx="2234188" cy="2134336"/>
          </a:xfrm>
          <a:prstGeom prst="rect">
            <a:avLst/>
          </a:prstGeom>
        </p:spPr>
      </p:pic>
      <p:sp>
        <p:nvSpPr>
          <p:cNvPr id="6" name="Google Shape;102;p15">
            <a:extLst>
              <a:ext uri="{FF2B5EF4-FFF2-40B4-BE49-F238E27FC236}">
                <a16:creationId xmlns:a16="http://schemas.microsoft.com/office/drawing/2014/main" id="{77C6C0DC-C01C-57F0-4E22-4881295C5137}"/>
              </a:ext>
            </a:extLst>
          </p:cNvPr>
          <p:cNvSpPr txBox="1"/>
          <p:nvPr/>
        </p:nvSpPr>
        <p:spPr>
          <a:xfrm>
            <a:off x="7396582" y="1946719"/>
            <a:ext cx="1280693" cy="32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900" i="1" dirty="0">
                <a:solidFill>
                  <a:schemeClr val="bg1">
                    <a:lumMod val="50000"/>
                  </a:schemeClr>
                </a:solidFill>
              </a:rPr>
              <a:t>(Zimmer et al., 2000)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0B1CB1-DFFA-F856-B49D-0D7861D0EF98}"/>
              </a:ext>
            </a:extLst>
          </p:cNvPr>
          <p:cNvSpPr/>
          <p:nvPr/>
        </p:nvSpPr>
        <p:spPr>
          <a:xfrm>
            <a:off x="5445939" y="1318545"/>
            <a:ext cx="493614" cy="493614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B63C1CE-56D0-47D9-404E-67FAD2256F80}"/>
              </a:ext>
            </a:extLst>
          </p:cNvPr>
          <p:cNvSpPr/>
          <p:nvPr/>
        </p:nvSpPr>
        <p:spPr>
          <a:xfrm>
            <a:off x="7327643" y="2720605"/>
            <a:ext cx="1512749" cy="1514487"/>
          </a:xfrm>
          <a:prstGeom prst="ellipse">
            <a:avLst/>
          </a:prstGeom>
          <a:pattFill prst="dashUpDiag">
            <a:fgClr>
              <a:srgbClr val="FF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07610C6-6AFD-8700-1D6F-6AA8567D15F9}"/>
              </a:ext>
            </a:extLst>
          </p:cNvPr>
          <p:cNvSpPr/>
          <p:nvPr/>
        </p:nvSpPr>
        <p:spPr>
          <a:xfrm>
            <a:off x="7561570" y="2976973"/>
            <a:ext cx="1044894" cy="100174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313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Inversion Strategy: Deterministic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48788" y="745845"/>
            <a:ext cx="8972370" cy="4195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For our nonlinear deterministic approaches, the objective function is: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We employ the Gauss-Newton method: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And the Levenberg-Marquardt Method (</a:t>
            </a:r>
            <a:r>
              <a:rPr lang="en-US" sz="1800" u="sng" dirty="0">
                <a:solidFill>
                  <a:schemeClr val="tx1"/>
                </a:solidFill>
                <a:latin typeface="+mn-lt"/>
                <a:sym typeface="Wingdings" pitchFamily="2" charset="2"/>
              </a:rPr>
              <a:t>modified version: Trust Region Reflective</a:t>
            </a: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)</a:t>
            </a: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AE0D4BB-675C-4D95-927D-4201C06C23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758" y="3872277"/>
            <a:ext cx="7632700" cy="685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B86F551-89CA-44FE-7DD0-0C7FDC4F14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994" y="2462000"/>
            <a:ext cx="7265958" cy="686928"/>
          </a:xfrm>
          <a:prstGeom prst="rect">
            <a:avLst/>
          </a:prstGeom>
        </p:spPr>
      </p:pic>
      <p:pic>
        <p:nvPicPr>
          <p:cNvPr id="20" name="Picture 19" descr="A mathematical equation with a number of letters&#10;&#10;Description automatically generated with medium confidence">
            <a:extLst>
              <a:ext uri="{FF2B5EF4-FFF2-40B4-BE49-F238E27FC236}">
                <a16:creationId xmlns:a16="http://schemas.microsoft.com/office/drawing/2014/main" id="{BF832237-AEE5-B04B-3A5D-08C89F4A05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7662" y="1169477"/>
            <a:ext cx="3395422" cy="95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46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Inversion Strategy: Stochastic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172FBF-5181-21E9-8BA0-55C1921F957B}"/>
                  </a:ext>
                </a:extLst>
              </p:cNvPr>
              <p:cNvSpPr txBox="1"/>
              <p:nvPr/>
            </p:nvSpPr>
            <p:spPr>
              <a:xfrm>
                <a:off x="48788" y="745845"/>
                <a:ext cx="8972370" cy="37804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Due to the high degree of non-uniqueness, we also implement the Metropolis-Hastings algorithm (Markov Chain Monte Carlo):</a:t>
                </a:r>
              </a:p>
              <a:p>
                <a:pPr lvl="8">
                  <a:lnSpc>
                    <a:spcPct val="150000"/>
                  </a:lnSpc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	- 800,000 iterations </a:t>
                </a:r>
              </a:p>
              <a:p>
                <a:pPr lvl="8">
                  <a:lnSpc>
                    <a:spcPct val="150000"/>
                  </a:lnSpc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	- implicit regularization (use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log</m:t>
                    </m:r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(</m:t>
                    </m:r>
                    <m:r>
                      <m:rPr>
                        <m:sty m:val="p"/>
                      </m:rPr>
                      <a:rPr lang="el-GR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σ</m:t>
                    </m:r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as 3</a:t>
                </a:r>
                <a:r>
                  <a:rPr lang="en-US" sz="1800" baseline="300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rd</a:t>
                </a: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 parameter: accounts for higher 	sensitivity)</a:t>
                </a:r>
              </a:p>
              <a:p>
                <a:pPr lvl="8">
                  <a:lnSpc>
                    <a:spcPct val="150000"/>
                  </a:lnSpc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	- step sizes of [0.3, 0.16, 0.02]</a:t>
                </a:r>
              </a:p>
              <a:p>
                <a:pPr lvl="8">
                  <a:lnSpc>
                    <a:spcPct val="150000"/>
                  </a:lnSpc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	- burn-in: first 100,000 samples</a:t>
                </a:r>
              </a:p>
              <a:p>
                <a:pPr lvl="8">
                  <a:lnSpc>
                    <a:spcPct val="150000"/>
                  </a:lnSpc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	- Prior is uniform distribution: maximum 90 km depth, 200 km thickness</a:t>
                </a:r>
              </a:p>
              <a:p>
                <a:pPr lvl="8">
                  <a:lnSpc>
                    <a:spcPct val="150000"/>
                  </a:lnSpc>
                </a:pPr>
                <a:r>
                  <a:rPr lang="en-US" sz="1800" dirty="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	- conductivity ranges 3 orders of magnitude (facilitated by log </a:t>
                </a:r>
                <a:r>
                  <a:rPr lang="en-US" sz="1800">
                    <a:solidFill>
                      <a:schemeClr val="tx1"/>
                    </a:solidFill>
                    <a:latin typeface="+mn-lt"/>
                    <a:sym typeface="Wingdings" pitchFamily="2" charset="2"/>
                  </a:rPr>
                  <a:t>regularization)</a:t>
                </a:r>
                <a:endParaRPr lang="en-US" sz="1800" dirty="0">
                  <a:solidFill>
                    <a:schemeClr val="tx1"/>
                  </a:solidFill>
                  <a:latin typeface="+mn-lt"/>
                  <a:sym typeface="Wingdings" pitchFamily="2" charset="2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172FBF-5181-21E9-8BA0-55C1921F9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88" y="745845"/>
                <a:ext cx="8972370" cy="3780458"/>
              </a:xfrm>
              <a:prstGeom prst="rect">
                <a:avLst/>
              </a:prstGeom>
              <a:blipFill>
                <a:blip r:embed="rId5"/>
                <a:stretch>
                  <a:fillRect l="-424" b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9435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Results: Synthetic Data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2FBF-5181-21E9-8BA0-55C1921F957B}"/>
              </a:ext>
            </a:extLst>
          </p:cNvPr>
          <p:cNvSpPr txBox="1"/>
          <p:nvPr/>
        </p:nvSpPr>
        <p:spPr>
          <a:xfrm>
            <a:off x="48788" y="745845"/>
            <a:ext cx="8972370" cy="1287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dirty="0" err="1">
                <a:solidFill>
                  <a:schemeClr val="tx1"/>
                </a:solidFill>
                <a:latin typeface="+mn-lt"/>
                <a:sym typeface="Wingdings" pitchFamily="2" charset="2"/>
              </a:rPr>
              <a:t>m_true</a:t>
            </a:r>
            <a:r>
              <a:rPr lang="en-US" sz="1800" dirty="0">
                <a:solidFill>
                  <a:schemeClr val="tx1"/>
                </a:solidFill>
                <a:latin typeface="+mn-lt"/>
                <a:sym typeface="Wingdings" pitchFamily="2" charset="2"/>
              </a:rPr>
              <a:t> = [1400 km, 1540km, 2.5 S/m]</a:t>
            </a: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  <a:p>
            <a:pPr>
              <a:lnSpc>
                <a:spcPct val="150000"/>
              </a:lnSpc>
            </a:pPr>
            <a:endParaRPr lang="en-US" sz="1800" dirty="0">
              <a:solidFill>
                <a:schemeClr val="tx1"/>
              </a:solidFill>
              <a:latin typeface="+mn-lt"/>
              <a:sym typeface="Wingdings" pitchFamily="2" charset="2"/>
            </a:endParaRPr>
          </a:p>
        </p:txBody>
      </p:sp>
      <p:pic>
        <p:nvPicPr>
          <p:cNvPr id="5" name="Picture 4" descr="A graph of different types of data&#10;&#10;Description automatically generated with medium confidence">
            <a:extLst>
              <a:ext uri="{FF2B5EF4-FFF2-40B4-BE49-F238E27FC236}">
                <a16:creationId xmlns:a16="http://schemas.microsoft.com/office/drawing/2014/main" id="{C7B9EF8E-7672-EE72-7FC5-8CE9558126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500" y="1162620"/>
            <a:ext cx="5384800" cy="34746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AD5E0-782F-552C-C3E9-AE5FFE157C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858" y="2548763"/>
            <a:ext cx="3258642" cy="351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407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Results: Real Data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" name="Picture 5" descr="A graph of 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0F9AF950-5305-87E5-D07C-D5F96FC38C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1316" y="965218"/>
            <a:ext cx="4646168" cy="348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79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Results: Real Data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" name="Picture 4" descr="A graph of a graph of a number of objects&#10;&#10;Description automatically generated with medium confidence">
            <a:extLst>
              <a:ext uri="{FF2B5EF4-FFF2-40B4-BE49-F238E27FC236}">
                <a16:creationId xmlns:a16="http://schemas.microsoft.com/office/drawing/2014/main" id="{981B080E-C683-9428-D7BE-A0DD4E9EAA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408" y="781727"/>
            <a:ext cx="7772400" cy="354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90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Statistical Results: Real Data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" name="Picture 5" descr="A graph of stock market&#10;&#10;Description automatically generated">
            <a:extLst>
              <a:ext uri="{FF2B5EF4-FFF2-40B4-BE49-F238E27FC236}">
                <a16:creationId xmlns:a16="http://schemas.microsoft.com/office/drawing/2014/main" id="{EA21B4DA-13FC-B6BF-1A3C-BE101CD124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2701" y="887348"/>
            <a:ext cx="5878597" cy="373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63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Statistical Results: Real Data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" name="Picture 4" descr="A group of blue and white graphs&#10;&#10;Description automatically generated">
            <a:extLst>
              <a:ext uri="{FF2B5EF4-FFF2-40B4-BE49-F238E27FC236}">
                <a16:creationId xmlns:a16="http://schemas.microsoft.com/office/drawing/2014/main" id="{7F86C1DA-B724-F3C4-A735-06AA306E78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907770"/>
            <a:ext cx="5879168" cy="3718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042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Statistical Results: Real Data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" name="Picture 7" descr="A graph of a number of bars&#10;&#10;Description automatically generated with medium confidence">
            <a:extLst>
              <a:ext uri="{FF2B5EF4-FFF2-40B4-BE49-F238E27FC236}">
                <a16:creationId xmlns:a16="http://schemas.microsoft.com/office/drawing/2014/main" id="{098E716B-BE37-2668-00A7-43CF2A62C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46300"/>
            <a:ext cx="4398064" cy="2922461"/>
          </a:xfrm>
          <a:prstGeom prst="rect">
            <a:avLst/>
          </a:prstGeom>
        </p:spPr>
      </p:pic>
      <p:pic>
        <p:nvPicPr>
          <p:cNvPr id="13" name="Picture 12" descr="A graph of a number of bars&#10;&#10;Description automatically generated with medium confidence">
            <a:extLst>
              <a:ext uri="{FF2B5EF4-FFF2-40B4-BE49-F238E27FC236}">
                <a16:creationId xmlns:a16="http://schemas.microsoft.com/office/drawing/2014/main" id="{8A4AAEC4-BD6F-3E34-0644-9EE3CC7BB0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2932" y="1246300"/>
            <a:ext cx="4455555" cy="292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698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70D407-8BC1-BA8C-F41B-A6AC777C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79145"/>
            <a:ext cx="8520600" cy="572700"/>
          </a:xfrm>
        </p:spPr>
        <p:txBody>
          <a:bodyPr>
            <a:normAutofit/>
          </a:bodyPr>
          <a:lstStyle/>
          <a:p>
            <a:r>
              <a:rPr lang="en-US" sz="2800" b="1" dirty="0"/>
              <a:t>Statistical Results: Real Data</a:t>
            </a:r>
          </a:p>
        </p:txBody>
      </p:sp>
      <p:pic>
        <p:nvPicPr>
          <p:cNvPr id="10" name="Google Shape;192;p7">
            <a:extLst>
              <a:ext uri="{FF2B5EF4-FFF2-40B4-BE49-F238E27FC236}">
                <a16:creationId xmlns:a16="http://schemas.microsoft.com/office/drawing/2014/main" id="{36EB9E9D-AFEA-8266-3D7D-1ACE478E88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94;p7">
            <a:extLst>
              <a:ext uri="{FF2B5EF4-FFF2-40B4-BE49-F238E27FC236}">
                <a16:creationId xmlns:a16="http://schemas.microsoft.com/office/drawing/2014/main" id="{FE1B6D24-D9FD-F478-258B-B95B38717B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88;p7">
            <a:extLst>
              <a:ext uri="{FF2B5EF4-FFF2-40B4-BE49-F238E27FC236}">
                <a16:creationId xmlns:a16="http://schemas.microsoft.com/office/drawing/2014/main" id="{D196BC81-4570-94C9-CB8F-969A88352B5A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" name="Picture 13" descr="A graph of a number of columns&#10;&#10;Description automatically generated with medium confidence">
            <a:extLst>
              <a:ext uri="{FF2B5EF4-FFF2-40B4-BE49-F238E27FC236}">
                <a16:creationId xmlns:a16="http://schemas.microsoft.com/office/drawing/2014/main" id="{D776E592-7BAC-E9F7-747E-4884ABEAB6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731" y="751845"/>
            <a:ext cx="6549322" cy="425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201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  <p:pic>
        <p:nvPicPr>
          <p:cNvPr id="6" name="Google Shape;192;p7">
            <a:extLst>
              <a:ext uri="{FF2B5EF4-FFF2-40B4-BE49-F238E27FC236}">
                <a16:creationId xmlns:a16="http://schemas.microsoft.com/office/drawing/2014/main" id="{4BB27A5C-574C-DC30-058F-047B1CA75B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94;p7">
            <a:extLst>
              <a:ext uri="{FF2B5EF4-FFF2-40B4-BE49-F238E27FC236}">
                <a16:creationId xmlns:a16="http://schemas.microsoft.com/office/drawing/2014/main" id="{DF5B4E6D-C754-F65C-49BF-F0E65A2CE81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88;p7">
            <a:extLst>
              <a:ext uri="{FF2B5EF4-FFF2-40B4-BE49-F238E27FC236}">
                <a16:creationId xmlns:a16="http://schemas.microsoft.com/office/drawing/2014/main" id="{A27E2099-249B-096E-A6EB-5F0DE46DB1CB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7B05EF0-188E-F5F3-F577-B44B073A531D}"/>
              </a:ext>
            </a:extLst>
          </p:cNvPr>
          <p:cNvCxnSpPr>
            <a:cxnSpLocks/>
          </p:cNvCxnSpPr>
          <p:nvPr/>
        </p:nvCxnSpPr>
        <p:spPr>
          <a:xfrm>
            <a:off x="4572000" y="772165"/>
            <a:ext cx="0" cy="1819905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7E684EE-F09A-FB76-C2D6-1C483F7B4546}"/>
              </a:ext>
            </a:extLst>
          </p:cNvPr>
          <p:cNvSpPr txBox="1"/>
          <p:nvPr/>
        </p:nvSpPr>
        <p:spPr>
          <a:xfrm>
            <a:off x="45485" y="626493"/>
            <a:ext cx="45265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/>
              <a:t>Goal</a:t>
            </a:r>
            <a:r>
              <a:rPr lang="en-US" sz="2000" b="1" dirty="0"/>
              <a:t>: </a:t>
            </a:r>
            <a:r>
              <a:rPr lang="en-US" sz="2000" dirty="0"/>
              <a:t>Constrain the depth, thickness, &amp; conductivity of Europa’s ocean</a:t>
            </a:r>
          </a:p>
          <a:p>
            <a:r>
              <a:rPr lang="en-US" sz="2000" b="1" dirty="0"/>
              <a:t> </a:t>
            </a:r>
            <a:endParaRPr lang="en-US" sz="2000" b="1" u="sng" dirty="0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A61BE26A-B1B9-DA64-CB59-ADD646F6B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142" y="438743"/>
            <a:ext cx="8520600" cy="572700"/>
          </a:xfrm>
        </p:spPr>
        <p:txBody>
          <a:bodyPr>
            <a:noAutofit/>
          </a:bodyPr>
          <a:lstStyle/>
          <a:p>
            <a:r>
              <a:rPr lang="en-US" sz="2000" b="1" dirty="0"/>
              <a:t>Summary: Magnetic Induction Sounding at Europa</a:t>
            </a:r>
            <a:br>
              <a:rPr lang="en-US" sz="2800" b="1" dirty="0"/>
            </a:br>
            <a:endParaRPr lang="en-US" sz="2800" b="1" dirty="0"/>
          </a:p>
        </p:txBody>
      </p:sp>
      <p:pic>
        <p:nvPicPr>
          <p:cNvPr id="3" name="Picture 2" descr="Model of Europa's Subsurface Structure | NASA Jet Propulsion Laboratory  (JPL)">
            <a:extLst>
              <a:ext uri="{FF2B5EF4-FFF2-40B4-BE49-F238E27FC236}">
                <a16:creationId xmlns:a16="http://schemas.microsoft.com/office/drawing/2014/main" id="{6B1F0D84-DF0C-D8E8-6562-E732ED2820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678152" y="1354606"/>
            <a:ext cx="1845518" cy="1192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B53EC9-50D1-4B6F-63C2-83964E6C9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667" y="1336559"/>
            <a:ext cx="1845518" cy="1228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9099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pic>
        <p:nvPicPr>
          <p:cNvPr id="6" name="Google Shape;192;p7">
            <a:extLst>
              <a:ext uri="{FF2B5EF4-FFF2-40B4-BE49-F238E27FC236}">
                <a16:creationId xmlns:a16="http://schemas.microsoft.com/office/drawing/2014/main" id="{4BB27A5C-574C-DC30-058F-047B1CA75B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94;p7">
            <a:extLst>
              <a:ext uri="{FF2B5EF4-FFF2-40B4-BE49-F238E27FC236}">
                <a16:creationId xmlns:a16="http://schemas.microsoft.com/office/drawing/2014/main" id="{DF5B4E6D-C754-F65C-49BF-F0E65A2CE81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88;p7">
            <a:extLst>
              <a:ext uri="{FF2B5EF4-FFF2-40B4-BE49-F238E27FC236}">
                <a16:creationId xmlns:a16="http://schemas.microsoft.com/office/drawing/2014/main" id="{A27E2099-249B-096E-A6EB-5F0DE46DB1CB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330944-D6A4-3F81-43FD-86E0CD40719D}"/>
              </a:ext>
            </a:extLst>
          </p:cNvPr>
          <p:cNvSpPr txBox="1"/>
          <p:nvPr/>
        </p:nvSpPr>
        <p:spPr>
          <a:xfrm>
            <a:off x="4753838" y="630975"/>
            <a:ext cx="44877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/>
              <a:t>Method</a:t>
            </a:r>
            <a:r>
              <a:rPr lang="en-US" sz="2000" b="1" dirty="0"/>
              <a:t>: </a:t>
            </a:r>
            <a:r>
              <a:rPr lang="en-US" sz="2000" dirty="0"/>
              <a:t>Combine in-situ magnetometer observations, context-driven data selection, and nonlinear Inverse methods (G-N, L-M, MCMC)</a:t>
            </a:r>
            <a:endParaRPr lang="en-US" sz="2000" u="sng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7B05EF0-188E-F5F3-F577-B44B073A531D}"/>
              </a:ext>
            </a:extLst>
          </p:cNvPr>
          <p:cNvCxnSpPr>
            <a:cxnSpLocks/>
          </p:cNvCxnSpPr>
          <p:nvPr/>
        </p:nvCxnSpPr>
        <p:spPr>
          <a:xfrm>
            <a:off x="4572000" y="772165"/>
            <a:ext cx="0" cy="1819905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158C13E-38A4-F780-DB09-E61CD26F7959}"/>
              </a:ext>
            </a:extLst>
          </p:cNvPr>
          <p:cNvCxnSpPr>
            <a:cxnSpLocks/>
          </p:cNvCxnSpPr>
          <p:nvPr/>
        </p:nvCxnSpPr>
        <p:spPr>
          <a:xfrm flipH="1">
            <a:off x="0" y="2592070"/>
            <a:ext cx="9144000" cy="0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4">
            <a:extLst>
              <a:ext uri="{FF2B5EF4-FFF2-40B4-BE49-F238E27FC236}">
                <a16:creationId xmlns:a16="http://schemas.microsoft.com/office/drawing/2014/main" id="{A61BE26A-B1B9-DA64-CB59-ADD646F6B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142" y="438743"/>
            <a:ext cx="8520600" cy="572700"/>
          </a:xfrm>
        </p:spPr>
        <p:txBody>
          <a:bodyPr>
            <a:noAutofit/>
          </a:bodyPr>
          <a:lstStyle/>
          <a:p>
            <a:r>
              <a:rPr lang="en-US" sz="2000" b="1" dirty="0"/>
              <a:t>Summary: Magnetic Induction Sounding at Europa</a:t>
            </a:r>
            <a:br>
              <a:rPr lang="en-US" sz="2800" b="1" dirty="0"/>
            </a:br>
            <a:endParaRPr lang="en-US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3E0BC1-D013-74BC-1770-E36D4068EBD3}"/>
              </a:ext>
            </a:extLst>
          </p:cNvPr>
          <p:cNvSpPr txBox="1"/>
          <p:nvPr/>
        </p:nvSpPr>
        <p:spPr>
          <a:xfrm>
            <a:off x="45485" y="626493"/>
            <a:ext cx="45265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/>
              <a:t>Goal</a:t>
            </a:r>
            <a:r>
              <a:rPr lang="en-US" sz="2000" b="1" dirty="0"/>
              <a:t>: </a:t>
            </a:r>
            <a:r>
              <a:rPr lang="en-US" sz="2000" dirty="0"/>
              <a:t>Constrain the depth, thickness, &amp; conductivity of Europa’s ocean</a:t>
            </a:r>
          </a:p>
          <a:p>
            <a:r>
              <a:rPr lang="en-US" sz="2000" b="1" dirty="0"/>
              <a:t> </a:t>
            </a:r>
            <a:endParaRPr lang="en-US" sz="2000" b="1" u="sng" dirty="0"/>
          </a:p>
        </p:txBody>
      </p:sp>
      <p:pic>
        <p:nvPicPr>
          <p:cNvPr id="12" name="Picture 11" descr="Model of Europa's Subsurface Structure | NASA Jet Propulsion Laboratory  (JPL)">
            <a:extLst>
              <a:ext uri="{FF2B5EF4-FFF2-40B4-BE49-F238E27FC236}">
                <a16:creationId xmlns:a16="http://schemas.microsoft.com/office/drawing/2014/main" id="{0BD6024B-C4F6-8732-5ED0-9EB4F9B2C2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678152" y="1354606"/>
            <a:ext cx="1845518" cy="1192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0A6180-A1CA-E6A2-3684-052C49889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667" y="1336559"/>
            <a:ext cx="1845518" cy="1228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FAB653-0CDB-E79E-060A-5B716EB010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9819" y="2045310"/>
            <a:ext cx="3759700" cy="35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785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134DD-5784-3C48-89AB-00604AD3EA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  <p:pic>
        <p:nvPicPr>
          <p:cNvPr id="6" name="Google Shape;192;p7">
            <a:extLst>
              <a:ext uri="{FF2B5EF4-FFF2-40B4-BE49-F238E27FC236}">
                <a16:creationId xmlns:a16="http://schemas.microsoft.com/office/drawing/2014/main" id="{4BB27A5C-574C-DC30-058F-047B1CA75B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1802" y="23220"/>
            <a:ext cx="782018" cy="31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94;p7">
            <a:extLst>
              <a:ext uri="{FF2B5EF4-FFF2-40B4-BE49-F238E27FC236}">
                <a16:creationId xmlns:a16="http://schemas.microsoft.com/office/drawing/2014/main" id="{DF5B4E6D-C754-F65C-49BF-F0E65A2CE81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1282" y="13905"/>
            <a:ext cx="378000" cy="37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88;p7">
            <a:extLst>
              <a:ext uri="{FF2B5EF4-FFF2-40B4-BE49-F238E27FC236}">
                <a16:creationId xmlns:a16="http://schemas.microsoft.com/office/drawing/2014/main" id="{A27E2099-249B-096E-A6EB-5F0DE46DB1CB}"/>
              </a:ext>
            </a:extLst>
          </p:cNvPr>
          <p:cNvSpPr/>
          <p:nvPr/>
        </p:nvSpPr>
        <p:spPr>
          <a:xfrm>
            <a:off x="5793687" y="43642"/>
            <a:ext cx="2067595" cy="279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mhaynes@eas.gatech.edu</a:t>
            </a:r>
            <a:endParaRPr sz="12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330944-D6A4-3F81-43FD-86E0CD40719D}"/>
              </a:ext>
            </a:extLst>
          </p:cNvPr>
          <p:cNvSpPr txBox="1"/>
          <p:nvPr/>
        </p:nvSpPr>
        <p:spPr>
          <a:xfrm>
            <a:off x="4753838" y="630975"/>
            <a:ext cx="44877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/>
              <a:t>Method</a:t>
            </a:r>
            <a:r>
              <a:rPr lang="en-US" sz="2000" b="1" dirty="0"/>
              <a:t>: </a:t>
            </a:r>
            <a:r>
              <a:rPr lang="en-US" sz="2000" dirty="0"/>
              <a:t>Combine in-situ magnetometer observations, context-driven data selection, and nonlinear Inverse methods (G-N, L-M, MCMC)</a:t>
            </a:r>
            <a:endParaRPr lang="en-US" sz="2000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1CF04-3200-0CC7-C5E8-3DDB7AC99C3A}"/>
              </a:ext>
            </a:extLst>
          </p:cNvPr>
          <p:cNvSpPr txBox="1"/>
          <p:nvPr/>
        </p:nvSpPr>
        <p:spPr>
          <a:xfrm>
            <a:off x="45484" y="2632712"/>
            <a:ext cx="907906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/>
              <a:t>Results</a:t>
            </a:r>
            <a:r>
              <a:rPr lang="en-US" sz="2000" b="1" dirty="0"/>
              <a:t>: This problem is extremely non-unique! However, Europa definitely has a salty, liquid water ocean, with a thickness of ~100 km, depth of 10-20km, and conductivity of 1-5 S/m</a:t>
            </a:r>
            <a:endParaRPr lang="en-US" sz="2000" b="1" u="sng" dirty="0">
              <a:solidFill>
                <a:srgbClr val="00B0F0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7B05EF0-188E-F5F3-F577-B44B073A531D}"/>
              </a:ext>
            </a:extLst>
          </p:cNvPr>
          <p:cNvCxnSpPr>
            <a:cxnSpLocks/>
          </p:cNvCxnSpPr>
          <p:nvPr/>
        </p:nvCxnSpPr>
        <p:spPr>
          <a:xfrm>
            <a:off x="4572000" y="772165"/>
            <a:ext cx="0" cy="1819905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158C13E-38A4-F780-DB09-E61CD26F7959}"/>
              </a:ext>
            </a:extLst>
          </p:cNvPr>
          <p:cNvCxnSpPr>
            <a:cxnSpLocks/>
          </p:cNvCxnSpPr>
          <p:nvPr/>
        </p:nvCxnSpPr>
        <p:spPr>
          <a:xfrm flipH="1">
            <a:off x="0" y="2592070"/>
            <a:ext cx="9144000" cy="0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4">
            <a:extLst>
              <a:ext uri="{FF2B5EF4-FFF2-40B4-BE49-F238E27FC236}">
                <a16:creationId xmlns:a16="http://schemas.microsoft.com/office/drawing/2014/main" id="{A61BE26A-B1B9-DA64-CB59-ADD646F6B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8142" y="438743"/>
            <a:ext cx="8520600" cy="572700"/>
          </a:xfrm>
        </p:spPr>
        <p:txBody>
          <a:bodyPr>
            <a:noAutofit/>
          </a:bodyPr>
          <a:lstStyle/>
          <a:p>
            <a:r>
              <a:rPr lang="en-US" sz="2000" b="1" dirty="0"/>
              <a:t>Summary: Magnetic Induction Sounding at Europa</a:t>
            </a:r>
            <a:br>
              <a:rPr lang="en-US" sz="2800" b="1" dirty="0"/>
            </a:br>
            <a:endParaRPr lang="en-US" sz="28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DE4137-1F3E-D3FA-DD54-702C7273C5C6}"/>
              </a:ext>
            </a:extLst>
          </p:cNvPr>
          <p:cNvSpPr txBox="1"/>
          <p:nvPr/>
        </p:nvSpPr>
        <p:spPr>
          <a:xfrm>
            <a:off x="45485" y="626493"/>
            <a:ext cx="45265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/>
              <a:t>Goal</a:t>
            </a:r>
            <a:r>
              <a:rPr lang="en-US" sz="2000" b="1" dirty="0"/>
              <a:t>: </a:t>
            </a:r>
            <a:r>
              <a:rPr lang="en-US" sz="2000" dirty="0"/>
              <a:t>Constrain the depth, thickness, &amp; conductivity of Europa’s ocean</a:t>
            </a:r>
          </a:p>
          <a:p>
            <a:r>
              <a:rPr lang="en-US" sz="2000" b="1" dirty="0"/>
              <a:t> </a:t>
            </a:r>
            <a:endParaRPr lang="en-US" sz="2000" b="1" u="sng" dirty="0"/>
          </a:p>
        </p:txBody>
      </p:sp>
      <p:pic>
        <p:nvPicPr>
          <p:cNvPr id="13" name="Picture 12" descr="Model of Europa's Subsurface Structure | NASA Jet Propulsion Laboratory  (JPL)">
            <a:extLst>
              <a:ext uri="{FF2B5EF4-FFF2-40B4-BE49-F238E27FC236}">
                <a16:creationId xmlns:a16="http://schemas.microsoft.com/office/drawing/2014/main" id="{D2C3EC1F-6E4C-6A29-4547-FE18A5D05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678152" y="1354606"/>
            <a:ext cx="1845518" cy="1192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915AE96-9F26-3733-5DE1-567D2FAED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667" y="1336559"/>
            <a:ext cx="1845518" cy="1228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611D214-2FCF-FC75-EB32-C3C0D2A465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9819" y="2045310"/>
            <a:ext cx="3759700" cy="355444"/>
          </a:xfrm>
          <a:prstGeom prst="rect">
            <a:avLst/>
          </a:prstGeom>
        </p:spPr>
      </p:pic>
      <p:pic>
        <p:nvPicPr>
          <p:cNvPr id="4" name="Picture 3" descr="A graph of a number of columns&#10;&#10;Description automatically generated with medium confidence">
            <a:extLst>
              <a:ext uri="{FF2B5EF4-FFF2-40B4-BE49-F238E27FC236}">
                <a16:creationId xmlns:a16="http://schemas.microsoft.com/office/drawing/2014/main" id="{FA2CEB9C-FFDE-011A-E1C3-690A19FAC8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0311" y="3413810"/>
            <a:ext cx="2451491" cy="1594554"/>
          </a:xfrm>
          <a:prstGeom prst="rect">
            <a:avLst/>
          </a:prstGeom>
        </p:spPr>
      </p:pic>
      <p:pic>
        <p:nvPicPr>
          <p:cNvPr id="16" name="Picture 15" descr="A graph of stock market&#10;&#10;Description automatically generated">
            <a:extLst>
              <a:ext uri="{FF2B5EF4-FFF2-40B4-BE49-F238E27FC236}">
                <a16:creationId xmlns:a16="http://schemas.microsoft.com/office/drawing/2014/main" id="{B8240468-17AE-9DF6-1D19-4ED8927869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63250"/>
          <a:stretch/>
        </p:blipFill>
        <p:spPr>
          <a:xfrm>
            <a:off x="0" y="3689016"/>
            <a:ext cx="5657528" cy="1319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1207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C8E5-C0E9-2731-4689-70A1D4CB6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2650" y="1376062"/>
            <a:ext cx="5600700" cy="1743675"/>
          </a:xfrm>
        </p:spPr>
        <p:txBody>
          <a:bodyPr>
            <a:noAutofit/>
          </a:bodyPr>
          <a:lstStyle/>
          <a:p>
            <a:r>
              <a:rPr lang="en-US" sz="7200" b="1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F4670-A0A5-C08E-244A-7AAE1FF07D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37647104"/>
      </p:ext>
    </p:extLst>
  </p:cSld>
  <p:clrMapOvr>
    <a:masterClrMapping/>
  </p:clrMapOvr>
</p:sld>
</file>

<file path=ppt/theme/theme1.xml><?xml version="1.0" encoding="utf-8"?>
<a:theme xmlns:a="http://schemas.openxmlformats.org/drawingml/2006/main" name="Essential">
  <a:themeElements>
    <a:clrScheme name="Custom 8">
      <a:dk1>
        <a:srgbClr val="00063F"/>
      </a:dk1>
      <a:lt1>
        <a:srgbClr val="FFFFFF"/>
      </a:lt1>
      <a:dk2>
        <a:srgbClr val="CC9900"/>
      </a:dk2>
      <a:lt2>
        <a:srgbClr val="F0E6C3"/>
      </a:lt2>
      <a:accent1>
        <a:srgbClr val="1A006E"/>
      </a:accent1>
      <a:accent2>
        <a:srgbClr val="F88600"/>
      </a:accent2>
      <a:accent3>
        <a:srgbClr val="F83500"/>
      </a:accent3>
      <a:accent4>
        <a:srgbClr val="8B723D"/>
      </a:accent4>
      <a:accent5>
        <a:srgbClr val="818B3D"/>
      </a:accent5>
      <a:accent6>
        <a:srgbClr val="586215"/>
      </a:accent6>
      <a:hlink>
        <a:srgbClr val="FF621D"/>
      </a:hlink>
      <a:folHlink>
        <a:srgbClr val="F3D2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ynes Senior Seminar II Presentation (FINAL)" id="{EAA84077-E73A-5645-A87C-93E96515742A}" vid="{A0BBA2F2-C3B8-684B-960F-3DCE0AA3FB09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Essential</Template>
  <TotalTime>170814</TotalTime>
  <Words>1634</Words>
  <Application>Microsoft Macintosh PowerPoint</Application>
  <PresentationFormat>On-screen Show (16:9)</PresentationFormat>
  <Paragraphs>205</Paragraphs>
  <Slides>26</Slides>
  <Notes>25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Cambria Math</vt:lpstr>
      <vt:lpstr>Gill Sans MT</vt:lpstr>
      <vt:lpstr>Helvetica</vt:lpstr>
      <vt:lpstr>Times New Roman</vt:lpstr>
      <vt:lpstr>Wingdings</vt:lpstr>
      <vt:lpstr>Essential</vt:lpstr>
      <vt:lpstr>Towards a Constrained Understanding of Europa’s Subsurface Driven by Magnetic Induction Sounding</vt:lpstr>
      <vt:lpstr>Europa: Background</vt:lpstr>
      <vt:lpstr>Europa: Background</vt:lpstr>
      <vt:lpstr>Science Question: Where Is the Ocean?</vt:lpstr>
      <vt:lpstr>Strategy: Model Assumptions</vt:lpstr>
      <vt:lpstr>Forward Operator: Induction Physics</vt:lpstr>
      <vt:lpstr>Forward Operator: Induction Physics</vt:lpstr>
      <vt:lpstr>Forward Operator: Induction Physics</vt:lpstr>
      <vt:lpstr>Strategy: Model Assumptions &amp; Discretization</vt:lpstr>
      <vt:lpstr>Inversion Strategy</vt:lpstr>
      <vt:lpstr>Inversion Strategy</vt:lpstr>
      <vt:lpstr>Inversion Strategy</vt:lpstr>
      <vt:lpstr>Inversion Strategy</vt:lpstr>
      <vt:lpstr>Inversion Strategy: Deterministic</vt:lpstr>
      <vt:lpstr>Inversion Strategy: Stochastic</vt:lpstr>
      <vt:lpstr>Results: Synthetic Data</vt:lpstr>
      <vt:lpstr>Results: Real Data</vt:lpstr>
      <vt:lpstr>Results: Real Data</vt:lpstr>
      <vt:lpstr>Statistical Results: Real Data</vt:lpstr>
      <vt:lpstr>Statistical Results: Real Data</vt:lpstr>
      <vt:lpstr>Statistical Results: Real Data</vt:lpstr>
      <vt:lpstr>Statistical Results: Real Data</vt:lpstr>
      <vt:lpstr>Summary: Magnetic Induction Sounding at Europa </vt:lpstr>
      <vt:lpstr>Summary: Magnetic Induction Sounding at Europa </vt:lpstr>
      <vt:lpstr>Summary: Magnetic Induction Sounding at Europa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Emission of Energetic Neutral Atoms at Callisto and Europa</dc:title>
  <dc:creator>Haynes, Charles M</dc:creator>
  <cp:lastModifiedBy>Haynes, Charles M</cp:lastModifiedBy>
  <cp:revision>274</cp:revision>
  <cp:lastPrinted>2022-04-15T15:59:32Z</cp:lastPrinted>
  <dcterms:created xsi:type="dcterms:W3CDTF">2023-07-21T15:53:35Z</dcterms:created>
  <dcterms:modified xsi:type="dcterms:W3CDTF">2026-04-27T16:43:58Z</dcterms:modified>
</cp:coreProperties>
</file>